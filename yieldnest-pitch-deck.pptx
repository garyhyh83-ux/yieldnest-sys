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1051560"/>
            <a:ext cx="1645920" cy="1645920"/>
          </a:xfrm>
          <a:prstGeom prst="rect">
            <a:avLst>
              <a:gd name="adj" fmla="val 16667"/>
            </a:avLst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1051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0" y="1371600"/>
            <a:ext cx="914400" cy="914400"/>
          </a:xfrm>
          <a:prstGeom prst="rect">
            <a:avLst>
              <a:gd name="adj" fmla="val 20000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YieldNest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Stablecoin Yield Aggregation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Corporate "Yu'e Bao" for the Blockchain Era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$20 Trillion Cash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1828800" cy="1234440"/>
          </a:xfrm>
          <a:prstGeom prst="rect">
            <a:avLst>
              <a:gd name="adj" fmla="val 592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SMB cash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equivalents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828800" cy="1234440"/>
          </a:xfrm>
          <a:prstGeom prst="rect">
            <a:avLst>
              <a:gd name="adj" fmla="val 592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yield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828800" cy="1234440"/>
          </a:xfrm>
          <a:prstGeom prst="rect">
            <a:avLst>
              <a:gd name="adj" fmla="val 592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Treasury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(BUIDL)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188720"/>
            <a:ext cx="1828800" cy="1234440"/>
          </a:xfrm>
          <a:prstGeom prst="rect">
            <a:avLst>
              <a:gd name="adj" fmla="val 592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Enterprise-friendly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products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SMBs hold ~$20T in cash equivalents earning near-zero interest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banks offer 0.01-0.5% APY on business savings accounts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Meanwhile, on-chain U.S. Treasury products (BlackRock BUIDL) yield 4-5%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wallets, private keys, gas fees, and compliance fears block enterprise adoption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yield exists — the access doesn't."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Federal Reserve Financial Stability Report, BlackRock BUIDL Fact Sheet, SMB Cash Management Survey 2025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YieldNest: One Click to 4-5% Yield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749040" cy="3200400"/>
          </a:xfrm>
          <a:prstGeom prst="rect">
            <a:avLst>
              <a:gd name="adj" fmla="val 228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solidFill>
            <a:srgbClr val="FF5C5C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savings account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0.01% APY (effectively zero)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bank relationships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week onboarding per bank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749040" cy="3200400"/>
          </a:xfrm>
          <a:prstGeom prst="rect">
            <a:avLst>
              <a:gd name="adj" fmla="val 2286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280160"/>
            <a:ext cx="374904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98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YIELDNEST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92024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account with 4-5% APY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400x better yield than banks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unified dashboard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online onboarding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yield tracking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Mobile + Web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crypto knowledge required. Just deposit USDC, earn yield.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Addressable Market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868680"/>
          </a:xfrm>
          <a:prstGeom prst="rect">
            <a:avLst>
              <a:gd name="adj" fmla="val 8421"/>
            </a:avLst>
          </a:prstGeom>
          <a:solidFill>
            <a:srgbClr val="2A30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SMB Cash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$300B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600200" y="2331720"/>
            <a:ext cx="5943600" cy="868680"/>
          </a:xfrm>
          <a:prstGeom prst="rect">
            <a:avLst>
              <a:gd name="adj" fmla="val 8421"/>
            </a:avLst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679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SMBs Willing to Hold Stablecoins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3212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 of TAM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383280"/>
            <a:ext cx="3931920" cy="868680"/>
          </a:xfrm>
          <a:prstGeom prst="rect">
            <a:avLst>
              <a:gd name="adj" fmla="val 8421"/>
            </a:avLst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3383280"/>
            <a:ext cx="3931920" cy="868680"/>
          </a:xfrm>
          <a:prstGeom prst="rect">
            <a:avLst>
              <a:gd name="adj" fmla="val 8421"/>
            </a:avLst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3730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Revenue Target (0.7% effective fee)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2628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$5B AUM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7863840" cy="502920"/>
          </a:xfrm>
          <a:prstGeom prst="rect">
            <a:avLst>
              <a:gd name="adj" fmla="val 14545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market cap: $135B → $250B+ in 18 months (85% growth) | On-chain US Treasuries: $5B → $350B (70x)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YieldNest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0240" cy="2468880"/>
          </a:xfrm>
          <a:prstGeom prst="rect">
            <a:avLst>
              <a:gd name="adj" fmla="val 381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554480"/>
            <a:ext cx="548640" cy="548640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KYB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account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1920240" cy="2468880"/>
          </a:xfrm>
          <a:prstGeom prst="rect">
            <a:avLst>
              <a:gd name="adj" fmla="val 381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554480"/>
            <a:ext cx="548640" cy="548640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/ ACH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transfer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USDC in your account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1920240" cy="2468880"/>
          </a:xfrm>
          <a:prstGeom prst="rect">
            <a:avLst>
              <a:gd name="adj" fmla="val 381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554480"/>
            <a:ext cx="548640" cy="548640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allocation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optimal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BUIDL, Aave, Morpho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95160" y="1371600"/>
            <a:ext cx="1920240" cy="2468880"/>
          </a:xfrm>
          <a:prstGeom prst="rect">
            <a:avLst>
              <a:gd name="adj" fmla="val 381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0" y="1554480"/>
            <a:ext cx="548640" cy="548640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232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compound yield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withdrawal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fees? We abstract them.   Private keys? Never touch them.   Compliance? Built in.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That Disappears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7863840" cy="914400"/>
          </a:xfrm>
          <a:prstGeom prst="rect">
            <a:avLst>
              <a:gd name="adj" fmla="val 8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· React Native Mobile · REST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interface your CFO already understands"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7863840" cy="914400"/>
          </a:xfrm>
          <a:prstGeom prst="rect">
            <a:avLst>
              <a:gd name="adj" fmla="val 8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Account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ERC-4337 · Safe{Core} · Passkey Auth · Multi-sig Approval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"Enterprise-grade security without seed phrases"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7863840" cy="914400"/>
          </a:xfrm>
          <a:prstGeom prst="rect">
            <a:avLst>
              <a:gd name="adj" fmla="val 8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566160"/>
            <a:ext cx="54864" cy="914400"/>
          </a:xfrm>
          <a:prstGeom prst="rect">
            <a:avLst/>
          </a:prstGeom>
          <a:solidFill>
            <a:srgbClr val="F0A0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Adapter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9502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BUIDL | Aave V4 | Morpho | Ondo USDY | Ethena USDe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"Diversified yield sources, automatically optimized"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7863840" cy="548640"/>
          </a:xfrm>
          <a:prstGeom prst="rect">
            <a:avLst>
              <a:gd name="adj" fmla="val 13333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462272"/>
            <a:ext cx="1737360" cy="402336"/>
          </a:xfrm>
          <a:prstGeom prst="rect">
            <a:avLst>
              <a:gd name="adj" fmla="val 13636"/>
            </a:avLst>
          </a:prstGeom>
          <a:solidFill>
            <a:srgbClr val="13182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62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4462272"/>
            <a:ext cx="1737360" cy="402336"/>
          </a:xfrm>
          <a:prstGeom prst="rect">
            <a:avLst>
              <a:gd name="adj" fmla="val 13636"/>
            </a:avLst>
          </a:prstGeom>
          <a:solidFill>
            <a:srgbClr val="13182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4462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462272"/>
            <a:ext cx="1737360" cy="402336"/>
          </a:xfrm>
          <a:prstGeom prst="rect">
            <a:avLst>
              <a:gd name="adj" fmla="val 13636"/>
            </a:avLst>
          </a:prstGeom>
          <a:solidFill>
            <a:srgbClr val="13182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462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 Governance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4462272"/>
            <a:ext cx="1737360" cy="402336"/>
          </a:xfrm>
          <a:prstGeom prst="rect">
            <a:avLst>
              <a:gd name="adj" fmla="val 13636"/>
            </a:avLst>
          </a:prstGeom>
          <a:solidFill>
            <a:srgbClr val="13182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462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Mutual Insurance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Tailwinds Converging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474720"/>
          </a:xfrm>
          <a:prstGeom prst="rect">
            <a:avLst>
              <a:gd name="adj" fmla="val 2759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Clarity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GENIUS Act passed (US federal framework)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MiCA fully live across EU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HK/Singapore frameworks operational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now regulated financial instruments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51760" cy="3474720"/>
          </a:xfrm>
          <a:prstGeom prst="rect">
            <a:avLst>
              <a:gd name="adj" fmla="val 2759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Maturity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ERC-4337 Account Abstraction live on all L2s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Passkeys in every browser &amp; device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 transaction fees on Base/Solana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Chainlink + Pyth oracle reliability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51760" cy="3474720"/>
          </a:xfrm>
          <a:prstGeom prst="rect">
            <a:avLst>
              <a:gd name="adj" fmla="val 2759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Demand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acquired Bridge for $1.1B (stablecoin infra)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PayPal launched PYUSD for 430M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BlackRock BUIDL surpassed $80B AUM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stablecoin transfer volume up 200%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 Space We Occupy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5303520" cy="3474720"/>
          </a:xfrm>
          <a:prstGeom prst="rect">
            <a:avLst>
              <a:gd name="adj" fmla="val 2105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0" y="1371600"/>
            <a:ext cx="0" cy="3474720"/>
          </a:xfrm>
          <a:prstGeom prst="line">
            <a:avLst/>
          </a:prstGeom>
          <a:noFill/>
          <a:ln w="12700">
            <a:solidFill>
              <a:srgbClr val="2A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108960"/>
            <a:ext cx="5303520" cy="0"/>
          </a:xfrm>
          <a:prstGeom prst="line">
            <a:avLst/>
          </a:prstGeom>
          <a:noFill/>
          <a:ln w="12700">
            <a:solidFill>
              <a:srgbClr val="2A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Native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1005840" cy="594360"/>
          </a:xfrm>
          <a:prstGeom prst="rect">
            <a:avLst>
              <a:gd name="adj" fmla="val 7692"/>
            </a:avLst>
          </a:prstGeom>
          <a:solidFill>
            <a:srgbClr val="13182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828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2468880"/>
            <a:ext cx="1005840" cy="594360"/>
          </a:xfrm>
          <a:prstGeom prst="rect">
            <a:avLst>
              <a:gd name="adj" fmla="val 7692"/>
            </a:avLst>
          </a:prstGeom>
          <a:solidFill>
            <a:srgbClr val="131820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24688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566160"/>
            <a:ext cx="1005840" cy="594360"/>
          </a:xfrm>
          <a:prstGeom prst="rect">
            <a:avLst>
              <a:gd name="adj" fmla="val 7692"/>
            </a:avLst>
          </a:prstGeom>
          <a:solidFill>
            <a:srgbClr val="13182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661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3840480"/>
            <a:ext cx="1005840" cy="594360"/>
          </a:xfrm>
          <a:prstGeom prst="rect">
            <a:avLst>
              <a:gd name="adj" fmla="val 7692"/>
            </a:avLst>
          </a:prstGeom>
          <a:solidFill>
            <a:srgbClr val="13182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8404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1828800"/>
            <a:ext cx="1645920" cy="685800"/>
          </a:xfrm>
          <a:prstGeom prst="rect">
            <a:avLst>
              <a:gd name="adj" fmla="val 8000"/>
            </a:avLst>
          </a:prstGeom>
          <a:solidFill>
            <a:srgbClr val="00D4A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YieldNest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640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◁  WHITE SPACE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+ Traditional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DeFi products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crypto-native users.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banks serve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but offer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yield.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YieldNest bridges both: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UX + DeFi yield.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685800"/>
          </a:xfrm>
          <a:prstGeom prst="rect">
            <a:avLst>
              <a:gd name="adj" fmla="val 10667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" cy="685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Management Fee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0.3-0.5%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Annualized, primary revenue driver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$1.5M/yr on $500M AUM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7863840" cy="685800"/>
          </a:xfrm>
          <a:prstGeom prst="rect">
            <a:avLst>
              <a:gd name="adj" fmla="val 10667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$199-999/mo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features: multi-entity, API, dedicated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SaaS-style recurring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7863840" cy="685800"/>
          </a:xfrm>
          <a:prstGeom prst="rect">
            <a:avLst>
              <a:gd name="adj" fmla="val 10667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Spread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10% of excess yield above benchmark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Performance-aligned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7863840" cy="685800"/>
          </a:xfrm>
          <a:prstGeom prst="rect">
            <a:avLst>
              <a:gd name="adj" fmla="val 10667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Redemption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on withdrawals within 30 days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Encourages sticky deposits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 CAC ~$2,000 (direct sales)  ·  LTV ~$30,000 (5-year enterprise)  ·  LTV/CAC = 15x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868680"/>
          </a:xfrm>
          <a:prstGeom prst="rect">
            <a:avLst>
              <a:gd name="adj" fmla="val 8421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M1-M6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Crypto-Adjacent First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funds, DAO treasuries, Web3 startups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low hanging fruit, fastest adoption cycles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868680"/>
          </a:xfrm>
          <a:prstGeom prst="rect">
            <a:avLst>
              <a:gd name="adj" fmla="val 8421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31720"/>
            <a:ext cx="54864" cy="868680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04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M7-M12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Verticals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e-commerce, remote-first companies,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 platforms, digital service exporters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7863840" cy="868680"/>
          </a:xfrm>
          <a:prstGeom prst="rect">
            <a:avLst>
              <a:gd name="adj" fmla="val 8421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83280"/>
            <a:ext cx="54864" cy="868680"/>
          </a:xfrm>
          <a:prstGeom prst="rect">
            <a:avLst/>
          </a:prstGeom>
          <a:solidFill>
            <a:srgbClr val="F0A0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456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M13-M24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 SMB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 + accounting firm partnerships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integrations (NetSuite, QuickBooks, Xero)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flywheel:  More AUM → Better yields → More clients → Larger AUM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Building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0" cy="1508760"/>
          </a:xfrm>
          <a:prstGeom prst="rect">
            <a:avLst>
              <a:gd name="adj" fmla="val 4848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Moat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MSB licenses + KYB infrastructure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months to replicate per jurisdiction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1508760"/>
          </a:xfrm>
          <a:prstGeom prst="rect">
            <a:avLst>
              <a:gd name="adj" fmla="val 4848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Moat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57784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optimized routing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BUIDL, Aave, Morpho, Ondo, Ethena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840480" cy="1508760"/>
          </a:xfrm>
          <a:prstGeom prst="rect">
            <a:avLst>
              <a:gd name="adj" fmla="val 4848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Moat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2, ISO 27001 certifications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Mutual insurance coverage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840480" cy="1508760"/>
          </a:xfrm>
          <a:prstGeom prst="rect">
            <a:avLst>
              <a:gd name="adj" fmla="val 4848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Moat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7784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risk scoring &amp; yield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improves with scale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cost: Once integrated into corporate treasury workflows, churn is near-zero.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3063240"/>
            <a:ext cx="786384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990088"/>
            <a:ext cx="146304" cy="146304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267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audit (Spearbit)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MVP deployment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0" y="2990088"/>
            <a:ext cx="146304" cy="146304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Beta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3566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enterprise design partners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MSB license application filed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11880" y="2990088"/>
            <a:ext cx="146304" cy="146304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2267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5468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468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BUIDL + Aave strategies live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enterprises onboarded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0" y="2990088"/>
            <a:ext cx="146304" cy="146304"/>
          </a:xfrm>
          <a:prstGeom prst="oval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566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 AUM milestone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Multi-chain: Arbitrum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63640" y="2990088"/>
            <a:ext cx="146304" cy="146304"/>
          </a:xfrm>
          <a:prstGeom prst="oval">
            <a:avLst/>
          </a:prstGeom>
          <a:solidFill>
            <a:srgbClr val="4D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267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644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$250M AUM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+ Enterprise API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589520" y="2990088"/>
            <a:ext cx="146304" cy="146304"/>
          </a:xfrm>
          <a:prstGeom prst="oval">
            <a:avLst/>
          </a:prstGeom>
          <a:solidFill>
            <a:srgbClr val="4D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566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 AUM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raise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50392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5C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8CD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297680"/>
            <a:ext cx="7863840" cy="640080"/>
          </a:xfrm>
          <a:prstGeom prst="rect">
            <a:avLst>
              <a:gd name="adj" fmla="val 11429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43159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Breakeven: Month 30-36   </a:t>
            </a:r>
            <a:pPr indent="0" marL="0">
              <a:buNone/>
            </a:pPr>
            <a:r>
              <a:rPr lang="en-US" sz="14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 Year 5 OP: $20M (57% margin)   |   Revenue CAGR: 170%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8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828800" cy="1188720"/>
          </a:xfrm>
          <a:prstGeom prst="rect">
            <a:avLst>
              <a:gd name="adj" fmla="val 6154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(SAFE + Token Warrant)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828800" cy="1188720"/>
          </a:xfrm>
          <a:prstGeom prst="rect">
            <a:avLst>
              <a:gd name="adj" fmla="val 6154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554480"/>
            <a:ext cx="1828800" cy="1188720"/>
          </a:xfrm>
          <a:prstGeom prst="rect">
            <a:avLst>
              <a:gd name="adj" fmla="val 6154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554480"/>
            <a:ext cx="1828800" cy="1188720"/>
          </a:xfrm>
          <a:prstGeom prst="rect">
            <a:avLst>
              <a:gd name="adj" fmla="val 6154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+ 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Operations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Investors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1828800" cy="731520"/>
          </a:xfrm>
          <a:prstGeom prst="rect">
            <a:avLst>
              <a:gd name="adj" fmla="val 10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VCs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97480" y="3383280"/>
            <a:ext cx="1828800" cy="731520"/>
          </a:xfrm>
          <a:prstGeom prst="rect">
            <a:avLst>
              <a:gd name="adj" fmla="val 10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974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Funds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1828800" cy="731520"/>
          </a:xfrm>
          <a:prstGeom prst="rect">
            <a:avLst>
              <a:gd name="adj" fmla="val 10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Angels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ex-Stripe, ex-Revolut, ex-Circle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3383280"/>
            <a:ext cx="1828800" cy="731520"/>
          </a:xfrm>
          <a:prstGeom prst="rect">
            <a:avLst>
              <a:gd name="adj" fmla="val 10000"/>
            </a:avLst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Funds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343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$20 trillion cash market is moving on-chain. YieldNest is the bridge."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team@yieldnest.io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YieldNest Pitch Deck</dc:title>
  <dc:subject>PptxGenJS Presentation</dc:subject>
  <dc:creator>YieldNest</dc:creator>
  <cp:lastModifiedBy>YieldNest</cp:lastModifiedBy>
  <cp:revision>1</cp:revision>
  <dcterms:created xsi:type="dcterms:W3CDTF">2026-05-11T10:54:01Z</dcterms:created>
  <dcterms:modified xsi:type="dcterms:W3CDTF">2026-05-11T10:54:01Z</dcterms:modified>
</cp:coreProperties>
</file>