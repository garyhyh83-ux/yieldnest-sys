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slideMasters/slideMaster13.xml" ContentType="application/vnd.openxmlformats-officedocument.presentationml.slideMaster+xml"/>
  <Override PartName="/ppt/slides/slide13.xml" ContentType="application/vnd.openxmlformats-officedocument.presentationml.slide+xml"/>
  <Override PartName="/ppt/slideMasters/slideMaster14.xml" ContentType="application/vnd.openxmlformats-officedocument.presentationml.slideMaster+xml"/>
  <Override PartName="/ppt/slides/slide14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</p:sldIdLst>
  <p:notesMasterIdLst>
    <p:notesMasterId r:id="rId16"/>
  </p:notesMasterIdLst>
  <p:sldSz cx="9144000" cy="5143500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slide" Target="slides/slide14.xml"/><Relationship Id="rId16" Type="http://schemas.openxmlformats.org/officeDocument/2006/relationships/notesMaster" Target="notesMasters/notesMaster1.xml"/><Relationship Id="rId17" Type="http://schemas.openxmlformats.org/officeDocument/2006/relationships/presProps" Target="presProps.xml"/><Relationship Id="rId18" Type="http://schemas.openxmlformats.org/officeDocument/2006/relationships/viewProps" Target="viewProps.xml"/><Relationship Id="rId19" Type="http://schemas.openxmlformats.org/officeDocument/2006/relationships/theme" Target="theme/theme1.xml"/><Relationship Id="rId20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_rels/notesSlide1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.xml"/>
		</Relationships>
</file>

<file path=ppt/notesSlides/_rels/notesSlide1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4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3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4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A0E1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131820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9144000" cy="54864"/>
          </a:xfrm>
          <a:prstGeom prst="rect">
            <a:avLst/>
          </a:prstGeom>
          <a:solidFill>
            <a:srgbClr val="00D4AA"/>
          </a:solidFill>
          <a:ln/>
        </p:spPr>
      </p:sp>
      <p:sp>
        <p:nvSpPr>
          <p:cNvPr id="4" name="Shape 2"/>
          <p:cNvSpPr/>
          <p:nvPr/>
        </p:nvSpPr>
        <p:spPr>
          <a:xfrm>
            <a:off x="3749040" y="1051560"/>
            <a:ext cx="1645920" cy="1645920"/>
          </a:xfrm>
          <a:prstGeom prst="rect">
            <a:avLst>
              <a:gd name="adj" fmla="val 16667"/>
            </a:avLst>
          </a:prstGeom>
          <a:solidFill>
            <a:srgbClr val="00D4AA"/>
          </a:solidFill>
          <a:ln/>
        </p:spPr>
      </p:sp>
      <p:sp>
        <p:nvSpPr>
          <p:cNvPr id="5" name="Text 3"/>
          <p:cNvSpPr/>
          <p:nvPr/>
        </p:nvSpPr>
        <p:spPr>
          <a:xfrm>
            <a:off x="3749040" y="1051560"/>
            <a:ext cx="1645920" cy="1645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5200" b="1" dirty="0">
                <a:solidFill>
                  <a:srgbClr val="0A0E1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YN</a:t>
            </a:r>
            <a:endParaRPr lang="en-US" sz="5200" dirty="0"/>
          </a:p>
        </p:txBody>
      </p:sp>
      <p:sp>
        <p:nvSpPr>
          <p:cNvPr id="6" name="Text 4"/>
          <p:cNvSpPr/>
          <p:nvPr/>
        </p:nvSpPr>
        <p:spPr>
          <a:xfrm>
            <a:off x="914400" y="2926080"/>
            <a:ext cx="73152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44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YieldNest</a:t>
            </a:r>
            <a:endParaRPr lang="en-US" sz="4400" dirty="0"/>
          </a:p>
        </p:txBody>
      </p:sp>
      <p:sp>
        <p:nvSpPr>
          <p:cNvPr id="7" name="Text 5"/>
          <p:cNvSpPr/>
          <p:nvPr/>
        </p:nvSpPr>
        <p:spPr>
          <a:xfrm>
            <a:off x="1371600" y="3566160"/>
            <a:ext cx="64008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dirty="0">
                <a:solidFill>
                  <a:srgbClr val="00D4A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企业级稳定币收益聚合平台</a:t>
            </a:r>
            <a:endParaRPr lang="en-US" sz="1800" dirty="0"/>
          </a:p>
        </p:txBody>
      </p:sp>
      <p:sp>
        <p:nvSpPr>
          <p:cNvPr id="8" name="Text 6"/>
          <p:cNvSpPr/>
          <p:nvPr/>
        </p:nvSpPr>
        <p:spPr>
          <a:xfrm>
            <a:off x="1371600" y="3977640"/>
            <a:ext cx="6400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rgbClr val="7A8294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区块链时代的「企业版余额宝」</a:t>
            </a:r>
            <a:endParaRPr lang="en-US" sz="1400" dirty="0"/>
          </a:p>
        </p:txBody>
      </p:sp>
      <p:sp>
        <p:nvSpPr>
          <p:cNvPr id="9" name="Text 7"/>
          <p:cNvSpPr/>
          <p:nvPr/>
        </p:nvSpPr>
        <p:spPr>
          <a:xfrm>
            <a:off x="640080" y="4709160"/>
            <a:ext cx="2743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7A8294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机密文件 · 2026年5月</a:t>
            </a:r>
            <a:endParaRPr lang="en-US" sz="10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0A0E1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320040"/>
            <a:ext cx="78638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20 万亿美元现金的困境</a:t>
            </a:r>
            <a:endParaRPr lang="en-US" sz="3000" dirty="0"/>
          </a:p>
        </p:txBody>
      </p:sp>
      <p:sp>
        <p:nvSpPr>
          <p:cNvPr id="3" name="Shape 1"/>
          <p:cNvSpPr/>
          <p:nvPr/>
        </p:nvSpPr>
        <p:spPr>
          <a:xfrm>
            <a:off x="640080" y="850392"/>
            <a:ext cx="731520" cy="36576"/>
          </a:xfrm>
          <a:prstGeom prst="rect">
            <a:avLst/>
          </a:prstGeom>
          <a:solidFill>
            <a:srgbClr val="00D4AA"/>
          </a:solidFill>
          <a:ln/>
        </p:spPr>
      </p:sp>
      <p:sp>
        <p:nvSpPr>
          <p:cNvPr id="4" name="Shape 2"/>
          <p:cNvSpPr/>
          <p:nvPr/>
        </p:nvSpPr>
        <p:spPr>
          <a:xfrm>
            <a:off x="640080" y="1188720"/>
            <a:ext cx="1828800" cy="1234440"/>
          </a:xfrm>
          <a:prstGeom prst="rect">
            <a:avLst>
              <a:gd name="adj" fmla="val 5926"/>
            </a:avLst>
          </a:prstGeom>
          <a:solidFill>
            <a:srgbClr val="1A1F2E"/>
          </a:solidFill>
          <a:ln/>
          <a:effectLst>
            <a:outerShdw sx="100000" sy="100000" kx="0" ky="0" algn="bl" rotWithShape="0" blurRad="101600" dist="38100" dir="8100000">
              <a:srgbClr val="000000">
                <a:alpha val="25000"/>
              </a:srgbClr>
            </a:outerShdw>
          </a:effectLst>
        </p:spPr>
      </p:sp>
      <p:sp>
        <p:nvSpPr>
          <p:cNvPr id="5" name="Text 3"/>
          <p:cNvSpPr/>
          <p:nvPr/>
        </p:nvSpPr>
        <p:spPr>
          <a:xfrm>
            <a:off x="640080" y="1280160"/>
            <a:ext cx="18288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00D4A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$20万亿</a:t>
            </a:r>
            <a:endParaRPr lang="en-US" sz="2800" dirty="0"/>
          </a:p>
        </p:txBody>
      </p:sp>
      <p:sp>
        <p:nvSpPr>
          <p:cNvPr id="6" name="Text 4"/>
          <p:cNvSpPr/>
          <p:nvPr/>
        </p:nvSpPr>
        <p:spPr>
          <a:xfrm>
            <a:off x="640080" y="1783080"/>
            <a:ext cx="18288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7A8294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全球中小企业</a:t>
            </a:r>
            <a:endParaRPr lang="en-US" sz="1100" dirty="0"/>
          </a:p>
          <a:p>
            <a:pPr algn="ctr" indent="0" marL="0">
              <a:buNone/>
            </a:pPr>
            <a:r>
              <a:rPr lang="en-US" sz="1100" dirty="0">
                <a:solidFill>
                  <a:srgbClr val="7A8294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持有的现金等价物</a:t>
            </a:r>
            <a:endParaRPr lang="en-US" sz="1100" dirty="0"/>
          </a:p>
        </p:txBody>
      </p:sp>
      <p:sp>
        <p:nvSpPr>
          <p:cNvPr id="7" name="Shape 5"/>
          <p:cNvSpPr/>
          <p:nvPr/>
        </p:nvSpPr>
        <p:spPr>
          <a:xfrm>
            <a:off x="2651760" y="1188720"/>
            <a:ext cx="1828800" cy="1234440"/>
          </a:xfrm>
          <a:prstGeom prst="rect">
            <a:avLst>
              <a:gd name="adj" fmla="val 5926"/>
            </a:avLst>
          </a:prstGeom>
          <a:solidFill>
            <a:srgbClr val="1A1F2E"/>
          </a:solidFill>
          <a:ln/>
          <a:effectLst>
            <a:outerShdw sx="100000" sy="100000" kx="0" ky="0" algn="bl" rotWithShape="0" blurRad="101600" dist="38100" dir="8100000">
              <a:srgbClr val="000000">
                <a:alpha val="25000"/>
              </a:srgbClr>
            </a:outerShdw>
          </a:effectLst>
        </p:spPr>
      </p:sp>
      <p:sp>
        <p:nvSpPr>
          <p:cNvPr id="8" name="Text 6"/>
          <p:cNvSpPr/>
          <p:nvPr/>
        </p:nvSpPr>
        <p:spPr>
          <a:xfrm>
            <a:off x="2651760" y="1280160"/>
            <a:ext cx="18288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00D4A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0.01%</a:t>
            </a:r>
            <a:endParaRPr lang="en-US" sz="2800" dirty="0"/>
          </a:p>
        </p:txBody>
      </p:sp>
      <p:sp>
        <p:nvSpPr>
          <p:cNvPr id="9" name="Text 7"/>
          <p:cNvSpPr/>
          <p:nvPr/>
        </p:nvSpPr>
        <p:spPr>
          <a:xfrm>
            <a:off x="2651760" y="1783080"/>
            <a:ext cx="18288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7A8294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银行活期存款</a:t>
            </a:r>
            <a:endParaRPr lang="en-US" sz="1100" dirty="0"/>
          </a:p>
          <a:p>
            <a:pPr algn="ctr" indent="0" marL="0">
              <a:buNone/>
            </a:pPr>
            <a:r>
              <a:rPr lang="en-US" sz="1100" dirty="0">
                <a:solidFill>
                  <a:srgbClr val="7A8294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平均年化收益率</a:t>
            </a:r>
            <a:endParaRPr lang="en-US" sz="1100" dirty="0"/>
          </a:p>
        </p:txBody>
      </p:sp>
      <p:sp>
        <p:nvSpPr>
          <p:cNvPr id="10" name="Shape 8"/>
          <p:cNvSpPr/>
          <p:nvPr/>
        </p:nvSpPr>
        <p:spPr>
          <a:xfrm>
            <a:off x="4663440" y="1188720"/>
            <a:ext cx="1828800" cy="1234440"/>
          </a:xfrm>
          <a:prstGeom prst="rect">
            <a:avLst>
              <a:gd name="adj" fmla="val 5926"/>
            </a:avLst>
          </a:prstGeom>
          <a:solidFill>
            <a:srgbClr val="1A1F2E"/>
          </a:solidFill>
          <a:ln/>
          <a:effectLst>
            <a:outerShdw sx="100000" sy="100000" kx="0" ky="0" algn="bl" rotWithShape="0" blurRad="101600" dist="38100" dir="8100000">
              <a:srgbClr val="000000">
                <a:alpha val="25000"/>
              </a:srgbClr>
            </a:outerShdw>
          </a:effectLst>
        </p:spPr>
      </p:sp>
      <p:sp>
        <p:nvSpPr>
          <p:cNvPr id="11" name="Text 9"/>
          <p:cNvSpPr/>
          <p:nvPr/>
        </p:nvSpPr>
        <p:spPr>
          <a:xfrm>
            <a:off x="4663440" y="1280160"/>
            <a:ext cx="18288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00D4A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4-5%</a:t>
            </a:r>
            <a:endParaRPr lang="en-US" sz="2800" dirty="0"/>
          </a:p>
        </p:txBody>
      </p:sp>
      <p:sp>
        <p:nvSpPr>
          <p:cNvPr id="12" name="Text 10"/>
          <p:cNvSpPr/>
          <p:nvPr/>
        </p:nvSpPr>
        <p:spPr>
          <a:xfrm>
            <a:off x="4663440" y="1783080"/>
            <a:ext cx="18288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7A8294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链上国债产品</a:t>
            </a:r>
            <a:endParaRPr lang="en-US" sz="1100" dirty="0"/>
          </a:p>
          <a:p>
            <a:pPr algn="ctr" indent="0" marL="0">
              <a:buNone/>
            </a:pPr>
            <a:r>
              <a:rPr lang="en-US" sz="1100" dirty="0">
                <a:solidFill>
                  <a:srgbClr val="7A8294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当前年化收益率</a:t>
            </a:r>
            <a:endParaRPr lang="en-US" sz="1100" dirty="0"/>
          </a:p>
        </p:txBody>
      </p:sp>
      <p:sp>
        <p:nvSpPr>
          <p:cNvPr id="13" name="Shape 11"/>
          <p:cNvSpPr/>
          <p:nvPr/>
        </p:nvSpPr>
        <p:spPr>
          <a:xfrm>
            <a:off x="6675120" y="1188720"/>
            <a:ext cx="1828800" cy="1234440"/>
          </a:xfrm>
          <a:prstGeom prst="rect">
            <a:avLst>
              <a:gd name="adj" fmla="val 5926"/>
            </a:avLst>
          </a:prstGeom>
          <a:solidFill>
            <a:srgbClr val="1A1F2E"/>
          </a:solidFill>
          <a:ln/>
          <a:effectLst>
            <a:outerShdw sx="100000" sy="100000" kx="0" ky="0" algn="bl" rotWithShape="0" blurRad="101600" dist="38100" dir="8100000">
              <a:srgbClr val="000000">
                <a:alpha val="25000"/>
              </a:srgbClr>
            </a:outerShdw>
          </a:effectLst>
        </p:spPr>
      </p:sp>
      <p:sp>
        <p:nvSpPr>
          <p:cNvPr id="14" name="Text 12"/>
          <p:cNvSpPr/>
          <p:nvPr/>
        </p:nvSpPr>
        <p:spPr>
          <a:xfrm>
            <a:off x="6675120" y="1280160"/>
            <a:ext cx="18288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FF5C5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</a:t>
            </a:r>
            <a:endParaRPr lang="en-US" sz="2800" dirty="0"/>
          </a:p>
        </p:txBody>
      </p:sp>
      <p:sp>
        <p:nvSpPr>
          <p:cNvPr id="15" name="Text 13"/>
          <p:cNvSpPr/>
          <p:nvPr/>
        </p:nvSpPr>
        <p:spPr>
          <a:xfrm>
            <a:off x="6675120" y="1783080"/>
            <a:ext cx="18288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7A8294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面向传统企业</a:t>
            </a:r>
            <a:endParaRPr lang="en-US" sz="1100" dirty="0"/>
          </a:p>
          <a:p>
            <a:pPr algn="ctr" indent="0" marL="0">
              <a:buNone/>
            </a:pPr>
            <a:r>
              <a:rPr lang="en-US" sz="1100" dirty="0">
                <a:solidFill>
                  <a:srgbClr val="7A8294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的友好型接入产品</a:t>
            </a:r>
            <a:endParaRPr lang="en-US" sz="1100" dirty="0"/>
          </a:p>
        </p:txBody>
      </p:sp>
      <p:sp>
        <p:nvSpPr>
          <p:cNvPr id="16" name="Text 14"/>
          <p:cNvSpPr/>
          <p:nvPr/>
        </p:nvSpPr>
        <p:spPr>
          <a:xfrm>
            <a:off x="640080" y="2606040"/>
            <a:ext cx="7863840" cy="1737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500" dirty="0">
                <a:solidFill>
                  <a:srgbClr val="C8CDD6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全球中小企业持有约 $20 万亿美元现金，收益几乎为零</a:t>
            </a:r>
            <a:endParaRPr lang="en-US" sz="15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500" dirty="0">
                <a:solidFill>
                  <a:srgbClr val="C8CDD6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传统银行企业活期存款利率仅 0.01%~0.5%</a:t>
            </a:r>
            <a:endParaRPr lang="en-US" sz="15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500" dirty="0">
                <a:solidFill>
                  <a:srgbClr val="C8CDD6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与此同时，链上美国国债产品（贝莱德 BUIDL）年化 4~5%</a:t>
            </a:r>
            <a:endParaRPr lang="en-US" sz="15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500" dirty="0">
                <a:solidFill>
                  <a:srgbClr val="C8CDD6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但钱包、私钥、Gas 费、合规恐惧，将企业挡在门外</a:t>
            </a:r>
            <a:endParaRPr lang="en-US" sz="15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500" dirty="0">
                <a:solidFill>
                  <a:srgbClr val="C8CDD6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「收益就在那里——只是没有通道能触达它。」</a:t>
            </a:r>
            <a:endParaRPr lang="en-US" sz="1500" dirty="0"/>
          </a:p>
        </p:txBody>
      </p:sp>
      <p:sp>
        <p:nvSpPr>
          <p:cNvPr id="17" name="Text 15"/>
          <p:cNvSpPr/>
          <p:nvPr/>
        </p:nvSpPr>
        <p:spPr>
          <a:xfrm>
            <a:off x="640080" y="4572000"/>
            <a:ext cx="78638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i="1" dirty="0">
                <a:solidFill>
                  <a:srgbClr val="7A8294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数据来源：美联储金融稳定报告、贝莱德 BUIDL 概况、中小企业现金管理调研 2025</a:t>
            </a:r>
            <a:endParaRPr lang="en-US" sz="10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0A0E1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320040"/>
            <a:ext cx="78638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YieldNest：一键获取 4-5% 年化收益</a:t>
            </a:r>
            <a:endParaRPr lang="en-US" sz="3000" dirty="0"/>
          </a:p>
        </p:txBody>
      </p:sp>
      <p:sp>
        <p:nvSpPr>
          <p:cNvPr id="3" name="Shape 1"/>
          <p:cNvSpPr/>
          <p:nvPr/>
        </p:nvSpPr>
        <p:spPr>
          <a:xfrm>
            <a:off x="640080" y="850392"/>
            <a:ext cx="731520" cy="36576"/>
          </a:xfrm>
          <a:prstGeom prst="rect">
            <a:avLst/>
          </a:prstGeom>
          <a:solidFill>
            <a:srgbClr val="00D4AA"/>
          </a:solidFill>
          <a:ln/>
        </p:spPr>
      </p:sp>
      <p:sp>
        <p:nvSpPr>
          <p:cNvPr id="4" name="Shape 2"/>
          <p:cNvSpPr/>
          <p:nvPr/>
        </p:nvSpPr>
        <p:spPr>
          <a:xfrm>
            <a:off x="457200" y="1280160"/>
            <a:ext cx="3749040" cy="3200400"/>
          </a:xfrm>
          <a:prstGeom prst="rect">
            <a:avLst>
              <a:gd name="adj" fmla="val 2286"/>
            </a:avLst>
          </a:prstGeom>
          <a:solidFill>
            <a:srgbClr val="1A1F2E"/>
          </a:solidFill>
          <a:ln/>
          <a:effectLst>
            <a:outerShdw sx="100000" sy="100000" kx="0" ky="0" algn="bl" rotWithShape="0" blurRad="101600" dist="38100" dir="8100000">
              <a:srgbClr val="000000">
                <a:alpha val="25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457200" y="1280160"/>
            <a:ext cx="3749040" cy="411480"/>
          </a:xfrm>
          <a:prstGeom prst="rect">
            <a:avLst/>
          </a:prstGeom>
          <a:solidFill>
            <a:srgbClr val="FF5C5C">
              <a:alpha val="15000"/>
            </a:srgbClr>
          </a:solidFill>
          <a:ln/>
        </p:spPr>
      </p:sp>
      <p:sp>
        <p:nvSpPr>
          <p:cNvPr id="6" name="Text 4"/>
          <p:cNvSpPr/>
          <p:nvPr/>
        </p:nvSpPr>
        <p:spPr>
          <a:xfrm>
            <a:off x="640080" y="1298448"/>
            <a:ext cx="33832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FF5C5C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传统方案</a:t>
            </a:r>
            <a:endParaRPr lang="en-US" sz="1500" dirty="0"/>
          </a:p>
        </p:txBody>
      </p:sp>
      <p:sp>
        <p:nvSpPr>
          <p:cNvPr id="7" name="Text 5"/>
          <p:cNvSpPr/>
          <p:nvPr/>
        </p:nvSpPr>
        <p:spPr>
          <a:xfrm>
            <a:off x="731520" y="1920240"/>
            <a:ext cx="3200400" cy="22860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spcAft>
                <a:spcPts val="1000"/>
              </a:spcAft>
              <a:buSzPct val="100000"/>
              <a:buChar char="•"/>
            </a:pPr>
            <a:r>
              <a:rPr lang="en-US" sz="1300" dirty="0">
                <a:solidFill>
                  <a:srgbClr val="C8CDD6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银行储蓄账户</a:t>
            </a:r>
            <a:endParaRPr lang="en-US" sz="1300" dirty="0"/>
          </a:p>
          <a:p>
            <a:pPr marL="342900" indent="-342900">
              <a:spcAft>
                <a:spcPts val="1000"/>
              </a:spcAft>
              <a:buSzPct val="100000"/>
              <a:buChar char="•"/>
            </a:pPr>
            <a:r>
              <a:rPr lang="en-US" sz="1300" dirty="0">
                <a:solidFill>
                  <a:srgbClr val="C8CDD6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年化 0.01%（几乎为零）</a:t>
            </a:r>
            <a:endParaRPr lang="en-US" sz="1300" dirty="0"/>
          </a:p>
          <a:p>
            <a:pPr marL="342900" indent="-342900">
              <a:spcAft>
                <a:spcPts val="1000"/>
              </a:spcAft>
              <a:buSzPct val="100000"/>
              <a:buChar char="•"/>
            </a:pPr>
            <a:r>
              <a:rPr lang="en-US" sz="1300" dirty="0">
                <a:solidFill>
                  <a:srgbClr val="C8CDD6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需维护多家银行关系</a:t>
            </a:r>
            <a:endParaRPr lang="en-US" sz="1300" dirty="0"/>
          </a:p>
          <a:p>
            <a:pPr marL="342900" indent="-342900">
              <a:spcAft>
                <a:spcPts val="1000"/>
              </a:spcAft>
              <a:buSzPct val="100000"/>
              <a:buChar char="•"/>
            </a:pPr>
            <a:r>
              <a:rPr lang="en-US" sz="1300" dirty="0">
                <a:solidFill>
                  <a:srgbClr val="C8CDD6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每家银行开户 2-4 周</a:t>
            </a:r>
            <a:endParaRPr lang="en-US" sz="1300" dirty="0"/>
          </a:p>
          <a:p>
            <a:pPr marL="342900" indent="-342900">
              <a:spcAft>
                <a:spcPts val="1000"/>
              </a:spcAft>
              <a:buSzPct val="100000"/>
              <a:buChar char="•"/>
            </a:pPr>
            <a:r>
              <a:rPr lang="en-US" sz="1300" dirty="0">
                <a:solidFill>
                  <a:srgbClr val="C8CDD6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无实时收益可视化</a:t>
            </a:r>
            <a:endParaRPr lang="en-US" sz="1300" dirty="0"/>
          </a:p>
        </p:txBody>
      </p:sp>
      <p:sp>
        <p:nvSpPr>
          <p:cNvPr id="8" name="Text 6"/>
          <p:cNvSpPr/>
          <p:nvPr/>
        </p:nvSpPr>
        <p:spPr>
          <a:xfrm>
            <a:off x="3931920" y="2560320"/>
            <a:ext cx="12801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600" b="1" dirty="0">
                <a:solidFill>
                  <a:srgbClr val="00D4A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→</a:t>
            </a:r>
            <a:endParaRPr lang="en-US" sz="3600" dirty="0"/>
          </a:p>
        </p:txBody>
      </p:sp>
      <p:sp>
        <p:nvSpPr>
          <p:cNvPr id="9" name="Shape 7"/>
          <p:cNvSpPr/>
          <p:nvPr/>
        </p:nvSpPr>
        <p:spPr>
          <a:xfrm>
            <a:off x="4937760" y="1280160"/>
            <a:ext cx="3749040" cy="3200400"/>
          </a:xfrm>
          <a:prstGeom prst="rect">
            <a:avLst>
              <a:gd name="adj" fmla="val 2286"/>
            </a:avLst>
          </a:prstGeom>
          <a:solidFill>
            <a:srgbClr val="1A1F2E"/>
          </a:solidFill>
          <a:ln/>
          <a:effectLst>
            <a:outerShdw sx="100000" sy="100000" kx="0" ky="0" algn="bl" rotWithShape="0" blurRad="101600" dist="38100" dir="8100000">
              <a:srgbClr val="000000">
                <a:alpha val="25000"/>
              </a:srgbClr>
            </a:outerShdw>
          </a:effectLst>
        </p:spPr>
      </p:sp>
      <p:sp>
        <p:nvSpPr>
          <p:cNvPr id="10" name="Shape 8"/>
          <p:cNvSpPr/>
          <p:nvPr/>
        </p:nvSpPr>
        <p:spPr>
          <a:xfrm>
            <a:off x="4937760" y="1280160"/>
            <a:ext cx="3749040" cy="411480"/>
          </a:xfrm>
          <a:prstGeom prst="rect">
            <a:avLst/>
          </a:prstGeom>
          <a:solidFill>
            <a:srgbClr val="00D4AA">
              <a:alpha val="15000"/>
            </a:srgbClr>
          </a:solidFill>
          <a:ln/>
        </p:spPr>
      </p:sp>
      <p:sp>
        <p:nvSpPr>
          <p:cNvPr id="11" name="Text 9"/>
          <p:cNvSpPr/>
          <p:nvPr/>
        </p:nvSpPr>
        <p:spPr>
          <a:xfrm>
            <a:off x="5120640" y="1298448"/>
            <a:ext cx="33832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00D4A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YieldNest 方案</a:t>
            </a:r>
            <a:endParaRPr lang="en-US" sz="1500" dirty="0"/>
          </a:p>
        </p:txBody>
      </p:sp>
      <p:sp>
        <p:nvSpPr>
          <p:cNvPr id="12" name="Text 10"/>
          <p:cNvSpPr/>
          <p:nvPr/>
        </p:nvSpPr>
        <p:spPr>
          <a:xfrm>
            <a:off x="5120640" y="1920240"/>
            <a:ext cx="3383280" cy="22860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spcAft>
                <a:spcPts val="1000"/>
              </a:spcAft>
              <a:buSzPct val="100000"/>
              <a:buChar char="•"/>
            </a:pPr>
            <a:r>
              <a:rPr lang="en-US" sz="1300" dirty="0">
                <a:solidFill>
                  <a:srgbClr val="C8CDD6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智能账户，年化 4-5%</a:t>
            </a:r>
            <a:endParaRPr lang="en-US" sz="1300" dirty="0"/>
          </a:p>
          <a:p>
            <a:pPr marL="342900" indent="-342900">
              <a:spcAft>
                <a:spcPts val="1000"/>
              </a:spcAft>
              <a:buSzPct val="100000"/>
              <a:buChar char="•"/>
            </a:pPr>
            <a:r>
              <a:rPr lang="en-US" sz="1300" dirty="0">
                <a:solidFill>
                  <a:srgbClr val="C8CDD6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收益是银行的 400 倍</a:t>
            </a:r>
            <a:endParaRPr lang="en-US" sz="1300" dirty="0"/>
          </a:p>
          <a:p>
            <a:pPr marL="342900" indent="-342900">
              <a:spcAft>
                <a:spcPts val="1000"/>
              </a:spcAft>
              <a:buSzPct val="100000"/>
              <a:buChar char="•"/>
            </a:pPr>
            <a:r>
              <a:rPr lang="en-US" sz="1300" dirty="0">
                <a:solidFill>
                  <a:srgbClr val="C8CDD6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统一仪表盘，一目了然</a:t>
            </a:r>
            <a:endParaRPr lang="en-US" sz="1300" dirty="0"/>
          </a:p>
          <a:p>
            <a:pPr marL="342900" indent="-342900">
              <a:spcAft>
                <a:spcPts val="1000"/>
              </a:spcAft>
              <a:buSzPct val="100000"/>
              <a:buChar char="•"/>
            </a:pPr>
            <a:r>
              <a:rPr lang="en-US" sz="1300" dirty="0">
                <a:solidFill>
                  <a:srgbClr val="C8CDD6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15 分钟在线入驻</a:t>
            </a:r>
            <a:endParaRPr lang="en-US" sz="1300" dirty="0"/>
          </a:p>
          <a:p>
            <a:pPr marL="342900" indent="-342900">
              <a:spcAft>
                <a:spcPts val="1000"/>
              </a:spcAft>
              <a:buSzPct val="100000"/>
              <a:buChar char="•"/>
            </a:pPr>
            <a:r>
              <a:rPr lang="en-US" sz="1300" dirty="0">
                <a:solidFill>
                  <a:srgbClr val="C8CDD6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实时收益追踪</a:t>
            </a:r>
            <a:endParaRPr lang="en-US" sz="1300" dirty="0"/>
          </a:p>
          <a:p>
            <a:pPr marL="342900" indent="-342900">
              <a:spcAft>
                <a:spcPts val="1000"/>
              </a:spcAft>
              <a:buSzPct val="100000"/>
              <a:buChar char="•"/>
            </a:pPr>
            <a:r>
              <a:rPr lang="en-US" sz="1300" dirty="0">
                <a:solidFill>
                  <a:srgbClr val="C8CDD6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API + 移动端 + Web</a:t>
            </a:r>
            <a:endParaRPr lang="en-US" sz="1300" dirty="0"/>
          </a:p>
        </p:txBody>
      </p:sp>
      <p:sp>
        <p:nvSpPr>
          <p:cNvPr id="13" name="Text 11"/>
          <p:cNvSpPr/>
          <p:nvPr/>
        </p:nvSpPr>
        <p:spPr>
          <a:xfrm>
            <a:off x="640080" y="4617720"/>
            <a:ext cx="78638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i="1" dirty="0">
                <a:solidFill>
                  <a:srgbClr val="00D4A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无需任何加密知识。存入 USDC，坐享收益。</a:t>
            </a:r>
            <a:endParaRPr lang="en-US" sz="14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0A0E1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320040"/>
            <a:ext cx="78638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巨大的可寻址市场</a:t>
            </a:r>
            <a:endParaRPr lang="en-US" sz="3000" dirty="0"/>
          </a:p>
        </p:txBody>
      </p:sp>
      <p:sp>
        <p:nvSpPr>
          <p:cNvPr id="3" name="Shape 1"/>
          <p:cNvSpPr/>
          <p:nvPr/>
        </p:nvSpPr>
        <p:spPr>
          <a:xfrm>
            <a:off x="640080" y="850392"/>
            <a:ext cx="731520" cy="36576"/>
          </a:xfrm>
          <a:prstGeom prst="rect">
            <a:avLst/>
          </a:prstGeom>
          <a:solidFill>
            <a:srgbClr val="00D4AA"/>
          </a:solidFill>
          <a:ln/>
        </p:spPr>
      </p:sp>
      <p:sp>
        <p:nvSpPr>
          <p:cNvPr id="4" name="Shape 2"/>
          <p:cNvSpPr/>
          <p:nvPr/>
        </p:nvSpPr>
        <p:spPr>
          <a:xfrm>
            <a:off x="640080" y="1280160"/>
            <a:ext cx="7863840" cy="868680"/>
          </a:xfrm>
          <a:prstGeom prst="rect">
            <a:avLst>
              <a:gd name="adj" fmla="val 8421"/>
            </a:avLst>
          </a:prstGeom>
          <a:solidFill>
            <a:srgbClr val="1A1F2E"/>
          </a:solidFill>
          <a:ln/>
        </p:spPr>
      </p:sp>
      <p:sp>
        <p:nvSpPr>
          <p:cNvPr id="5" name="Text 3"/>
          <p:cNvSpPr/>
          <p:nvPr/>
        </p:nvSpPr>
        <p:spPr>
          <a:xfrm>
            <a:off x="868680" y="1371600"/>
            <a:ext cx="20116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00D4A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TAM 总可寻址市场</a:t>
            </a:r>
            <a:endParaRPr lang="en-US" sz="1100" dirty="0"/>
          </a:p>
        </p:txBody>
      </p:sp>
      <p:sp>
        <p:nvSpPr>
          <p:cNvPr id="6" name="Text 4"/>
          <p:cNvSpPr/>
          <p:nvPr/>
        </p:nvSpPr>
        <p:spPr>
          <a:xfrm>
            <a:off x="868680" y="1627632"/>
            <a:ext cx="53035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7A8294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全球中小企业现金管理市场</a:t>
            </a:r>
            <a:endParaRPr lang="en-US" sz="1200" dirty="0"/>
          </a:p>
        </p:txBody>
      </p:sp>
      <p:sp>
        <p:nvSpPr>
          <p:cNvPr id="7" name="Text 5"/>
          <p:cNvSpPr/>
          <p:nvPr/>
        </p:nvSpPr>
        <p:spPr>
          <a:xfrm>
            <a:off x="6492240" y="1417320"/>
            <a:ext cx="18288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2600" b="1" dirty="0">
                <a:solidFill>
                  <a:srgbClr val="7A829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$3000亿</a:t>
            </a:r>
            <a:endParaRPr lang="en-US" sz="2600" dirty="0"/>
          </a:p>
        </p:txBody>
      </p:sp>
      <p:sp>
        <p:nvSpPr>
          <p:cNvPr id="8" name="Shape 6"/>
          <p:cNvSpPr/>
          <p:nvPr/>
        </p:nvSpPr>
        <p:spPr>
          <a:xfrm>
            <a:off x="1600200" y="2331720"/>
            <a:ext cx="5943600" cy="868680"/>
          </a:xfrm>
          <a:prstGeom prst="rect">
            <a:avLst>
              <a:gd name="adj" fmla="val 8421"/>
            </a:avLst>
          </a:prstGeom>
          <a:solidFill>
            <a:srgbClr val="1A1F2E"/>
          </a:solidFill>
          <a:ln/>
        </p:spPr>
      </p:sp>
      <p:sp>
        <p:nvSpPr>
          <p:cNvPr id="9" name="Text 7"/>
          <p:cNvSpPr/>
          <p:nvPr/>
        </p:nvSpPr>
        <p:spPr>
          <a:xfrm>
            <a:off x="1828800" y="2423160"/>
            <a:ext cx="20116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00D4A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SAM 可服务市场</a:t>
            </a:r>
            <a:endParaRPr lang="en-US" sz="1100" dirty="0"/>
          </a:p>
        </p:txBody>
      </p:sp>
      <p:sp>
        <p:nvSpPr>
          <p:cNvPr id="10" name="Text 8"/>
          <p:cNvSpPr/>
          <p:nvPr/>
        </p:nvSpPr>
        <p:spPr>
          <a:xfrm>
            <a:off x="1828800" y="2679192"/>
            <a:ext cx="33832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已持有或愿意持有稳定币的中小企业</a:t>
            </a:r>
            <a:endParaRPr lang="en-US" sz="1200" dirty="0"/>
          </a:p>
        </p:txBody>
      </p:sp>
      <p:sp>
        <p:nvSpPr>
          <p:cNvPr id="11" name="Text 9"/>
          <p:cNvSpPr/>
          <p:nvPr/>
        </p:nvSpPr>
        <p:spPr>
          <a:xfrm>
            <a:off x="5532120" y="2468880"/>
            <a:ext cx="18288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26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$500亿</a:t>
            </a:r>
            <a:endParaRPr lang="en-US" sz="2600" dirty="0"/>
          </a:p>
        </p:txBody>
      </p:sp>
      <p:sp>
        <p:nvSpPr>
          <p:cNvPr id="12" name="Text 10"/>
          <p:cNvSpPr/>
          <p:nvPr/>
        </p:nvSpPr>
        <p:spPr>
          <a:xfrm>
            <a:off x="5532120" y="2880360"/>
            <a:ext cx="18288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7A8294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TAM 的 17%</a:t>
            </a:r>
            <a:endParaRPr lang="en-US" sz="1000" dirty="0"/>
          </a:p>
        </p:txBody>
      </p:sp>
      <p:sp>
        <p:nvSpPr>
          <p:cNvPr id="13" name="Shape 11"/>
          <p:cNvSpPr/>
          <p:nvPr/>
        </p:nvSpPr>
        <p:spPr>
          <a:xfrm>
            <a:off x="2606040" y="3383280"/>
            <a:ext cx="3931920" cy="868680"/>
          </a:xfrm>
          <a:prstGeom prst="rect">
            <a:avLst>
              <a:gd name="adj" fmla="val 8421"/>
            </a:avLst>
          </a:prstGeom>
          <a:solidFill>
            <a:srgbClr val="00D4AA"/>
          </a:solidFill>
          <a:ln/>
        </p:spPr>
      </p:sp>
      <p:sp>
        <p:nvSpPr>
          <p:cNvPr id="14" name="Text 12"/>
          <p:cNvSpPr/>
          <p:nvPr/>
        </p:nvSpPr>
        <p:spPr>
          <a:xfrm>
            <a:off x="2834640" y="3474720"/>
            <a:ext cx="20116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0A0E14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SOM 可得市场</a:t>
            </a:r>
            <a:endParaRPr lang="en-US" sz="1100" dirty="0"/>
          </a:p>
        </p:txBody>
      </p:sp>
      <p:sp>
        <p:nvSpPr>
          <p:cNvPr id="15" name="Text 13"/>
          <p:cNvSpPr/>
          <p:nvPr/>
        </p:nvSpPr>
        <p:spPr>
          <a:xfrm>
            <a:off x="2834640" y="3730752"/>
            <a:ext cx="13716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第 5 年收入目标（0.7% 实际费率）</a:t>
            </a:r>
            <a:endParaRPr lang="en-US" sz="1200" dirty="0"/>
          </a:p>
        </p:txBody>
      </p:sp>
      <p:sp>
        <p:nvSpPr>
          <p:cNvPr id="16" name="Text 14"/>
          <p:cNvSpPr/>
          <p:nvPr/>
        </p:nvSpPr>
        <p:spPr>
          <a:xfrm>
            <a:off x="4526280" y="3520440"/>
            <a:ext cx="18288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26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$2.45亿</a:t>
            </a:r>
            <a:endParaRPr lang="en-US" sz="2600" dirty="0"/>
          </a:p>
        </p:txBody>
      </p:sp>
      <p:sp>
        <p:nvSpPr>
          <p:cNvPr id="17" name="Text 15"/>
          <p:cNvSpPr/>
          <p:nvPr/>
        </p:nvSpPr>
        <p:spPr>
          <a:xfrm>
            <a:off x="4526280" y="3931920"/>
            <a:ext cx="18288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7A8294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基于 $350亿 AUM</a:t>
            </a:r>
            <a:endParaRPr lang="en-US" sz="1000" dirty="0"/>
          </a:p>
        </p:txBody>
      </p:sp>
      <p:sp>
        <p:nvSpPr>
          <p:cNvPr id="18" name="Shape 16"/>
          <p:cNvSpPr/>
          <p:nvPr/>
        </p:nvSpPr>
        <p:spPr>
          <a:xfrm>
            <a:off x="640080" y="4434840"/>
            <a:ext cx="7863840" cy="502920"/>
          </a:xfrm>
          <a:prstGeom prst="rect">
            <a:avLst>
              <a:gd name="adj" fmla="val 14545"/>
            </a:avLst>
          </a:prstGeom>
          <a:solidFill>
            <a:srgbClr val="1A1F2E"/>
          </a:solidFill>
          <a:ln/>
          <a:effectLst>
            <a:outerShdw sx="100000" sy="100000" kx="0" ky="0" algn="bl" rotWithShape="0" blurRad="101600" dist="38100" dir="8100000">
              <a:srgbClr val="000000">
                <a:alpha val="25000"/>
              </a:srgbClr>
            </a:outerShdw>
          </a:effectLst>
        </p:spPr>
      </p:sp>
      <p:sp>
        <p:nvSpPr>
          <p:cNvPr id="19" name="Text 17"/>
          <p:cNvSpPr/>
          <p:nvPr/>
        </p:nvSpPr>
        <p:spPr>
          <a:xfrm>
            <a:off x="822960" y="4434840"/>
            <a:ext cx="74980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00D4A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稳定币市值：$1350亿 → $2500亿+（18 个月增长 85%）| 链上美债：$50亿 → $3500亿（增长 70 倍）</a:t>
            </a:r>
            <a:endParaRPr lang="en-US" sz="12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0A0E1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320040"/>
            <a:ext cx="78638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YieldNest 如何运作</a:t>
            </a:r>
            <a:endParaRPr lang="en-US" sz="3000" dirty="0"/>
          </a:p>
        </p:txBody>
      </p:sp>
      <p:sp>
        <p:nvSpPr>
          <p:cNvPr id="3" name="Shape 1"/>
          <p:cNvSpPr/>
          <p:nvPr/>
        </p:nvSpPr>
        <p:spPr>
          <a:xfrm>
            <a:off x="640080" y="850392"/>
            <a:ext cx="731520" cy="36576"/>
          </a:xfrm>
          <a:prstGeom prst="rect">
            <a:avLst/>
          </a:prstGeom>
          <a:solidFill>
            <a:srgbClr val="00D4AA"/>
          </a:solidFill>
          <a:ln/>
        </p:spPr>
      </p:sp>
      <p:sp>
        <p:nvSpPr>
          <p:cNvPr id="4" name="Shape 2"/>
          <p:cNvSpPr/>
          <p:nvPr/>
        </p:nvSpPr>
        <p:spPr>
          <a:xfrm>
            <a:off x="548640" y="1371600"/>
            <a:ext cx="1920240" cy="2468880"/>
          </a:xfrm>
          <a:prstGeom prst="rect">
            <a:avLst>
              <a:gd name="adj" fmla="val 3810"/>
            </a:avLst>
          </a:prstGeom>
          <a:solidFill>
            <a:srgbClr val="1A1F2E"/>
          </a:solidFill>
          <a:ln/>
          <a:effectLst>
            <a:outerShdw sx="100000" sy="100000" kx="0" ky="0" algn="bl" rotWithShape="0" blurRad="101600" dist="38100" dir="8100000">
              <a:srgbClr val="000000">
                <a:alpha val="25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1234440" y="1554480"/>
            <a:ext cx="548640" cy="548640"/>
          </a:xfrm>
          <a:prstGeom prst="oval">
            <a:avLst/>
          </a:prstGeom>
          <a:solidFill>
            <a:srgbClr val="00D4AA"/>
          </a:solidFill>
          <a:ln/>
        </p:spPr>
      </p:sp>
      <p:sp>
        <p:nvSpPr>
          <p:cNvPr id="6" name="Text 4"/>
          <p:cNvSpPr/>
          <p:nvPr/>
        </p:nvSpPr>
        <p:spPr>
          <a:xfrm>
            <a:off x="1234440" y="1554480"/>
            <a:ext cx="548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0A0E1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</a:t>
            </a:r>
            <a:endParaRPr lang="en-US" sz="2200" dirty="0"/>
          </a:p>
        </p:txBody>
      </p:sp>
      <p:sp>
        <p:nvSpPr>
          <p:cNvPr id="7" name="Text 5"/>
          <p:cNvSpPr/>
          <p:nvPr/>
        </p:nvSpPr>
        <p:spPr>
          <a:xfrm>
            <a:off x="685800" y="2286000"/>
            <a:ext cx="16459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入驻</a:t>
            </a:r>
            <a:endParaRPr lang="en-US" sz="1800" dirty="0"/>
          </a:p>
        </p:txBody>
      </p:sp>
      <p:sp>
        <p:nvSpPr>
          <p:cNvPr id="8" name="Text 6"/>
          <p:cNvSpPr/>
          <p:nvPr/>
        </p:nvSpPr>
        <p:spPr>
          <a:xfrm>
            <a:off x="685800" y="2743200"/>
            <a:ext cx="164592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7A8294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15 分钟 KYB 企业验证</a:t>
            </a:r>
            <a:endParaRPr lang="en-US" sz="1100" dirty="0"/>
          </a:p>
          <a:p>
            <a:pPr algn="ctr" indent="0" marL="0">
              <a:buNone/>
            </a:pPr>
            <a:r>
              <a:rPr lang="en-US" sz="1100" dirty="0">
                <a:solidFill>
                  <a:srgbClr val="7A8294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智能账户即刻部署</a:t>
            </a:r>
            <a:endParaRPr lang="en-US" sz="1100" dirty="0"/>
          </a:p>
        </p:txBody>
      </p:sp>
      <p:sp>
        <p:nvSpPr>
          <p:cNvPr id="9" name="Text 7"/>
          <p:cNvSpPr/>
          <p:nvPr/>
        </p:nvSpPr>
        <p:spPr>
          <a:xfrm>
            <a:off x="2468880" y="2286000"/>
            <a:ext cx="228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dirty="0">
                <a:solidFill>
                  <a:srgbClr val="00D4A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▸</a:t>
            </a:r>
            <a:endParaRPr lang="en-US" sz="1800" dirty="0"/>
          </a:p>
        </p:txBody>
      </p:sp>
      <p:sp>
        <p:nvSpPr>
          <p:cNvPr id="10" name="Shape 8"/>
          <p:cNvSpPr/>
          <p:nvPr/>
        </p:nvSpPr>
        <p:spPr>
          <a:xfrm>
            <a:off x="2697480" y="1371600"/>
            <a:ext cx="1920240" cy="2468880"/>
          </a:xfrm>
          <a:prstGeom prst="rect">
            <a:avLst>
              <a:gd name="adj" fmla="val 3810"/>
            </a:avLst>
          </a:prstGeom>
          <a:solidFill>
            <a:srgbClr val="1A1F2E"/>
          </a:solidFill>
          <a:ln/>
          <a:effectLst>
            <a:outerShdw sx="100000" sy="100000" kx="0" ky="0" algn="bl" rotWithShape="0" blurRad="101600" dist="38100" dir="8100000">
              <a:srgbClr val="000000">
                <a:alpha val="25000"/>
              </a:srgbClr>
            </a:outerShdw>
          </a:effectLst>
        </p:spPr>
      </p:sp>
      <p:sp>
        <p:nvSpPr>
          <p:cNvPr id="11" name="Shape 9"/>
          <p:cNvSpPr/>
          <p:nvPr/>
        </p:nvSpPr>
        <p:spPr>
          <a:xfrm>
            <a:off x="3383280" y="1554480"/>
            <a:ext cx="548640" cy="548640"/>
          </a:xfrm>
          <a:prstGeom prst="oval">
            <a:avLst/>
          </a:prstGeom>
          <a:solidFill>
            <a:srgbClr val="00D4AA"/>
          </a:solidFill>
          <a:ln/>
        </p:spPr>
      </p:sp>
      <p:sp>
        <p:nvSpPr>
          <p:cNvPr id="12" name="Text 10"/>
          <p:cNvSpPr/>
          <p:nvPr/>
        </p:nvSpPr>
        <p:spPr>
          <a:xfrm>
            <a:off x="3383280" y="1554480"/>
            <a:ext cx="548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0A0E1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</a:t>
            </a:r>
            <a:endParaRPr lang="en-US" sz="2200" dirty="0"/>
          </a:p>
        </p:txBody>
      </p:sp>
      <p:sp>
        <p:nvSpPr>
          <p:cNvPr id="13" name="Text 11"/>
          <p:cNvSpPr/>
          <p:nvPr/>
        </p:nvSpPr>
        <p:spPr>
          <a:xfrm>
            <a:off x="2834640" y="2286000"/>
            <a:ext cx="16459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入金</a:t>
            </a:r>
            <a:endParaRPr lang="en-US" sz="1800" dirty="0"/>
          </a:p>
        </p:txBody>
      </p:sp>
      <p:sp>
        <p:nvSpPr>
          <p:cNvPr id="14" name="Text 12"/>
          <p:cNvSpPr/>
          <p:nvPr/>
        </p:nvSpPr>
        <p:spPr>
          <a:xfrm>
            <a:off x="2834640" y="2743200"/>
            <a:ext cx="164592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7A8294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电汇 / ACH /</a:t>
            </a:r>
            <a:endParaRPr lang="en-US" sz="1100" dirty="0"/>
          </a:p>
          <a:p>
            <a:pPr algn="ctr" indent="0" marL="0">
              <a:buNone/>
            </a:pPr>
            <a:r>
              <a:rPr lang="en-US" sz="1100" dirty="0">
                <a:solidFill>
                  <a:srgbClr val="7A8294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链上转账</a:t>
            </a:r>
            <a:endParaRPr lang="en-US" sz="1100" dirty="0"/>
          </a:p>
          <a:p>
            <a:pPr algn="ctr" indent="0" marL="0">
              <a:buNone/>
            </a:pPr>
            <a:r>
              <a:rPr lang="en-US" sz="1100" dirty="0">
                <a:solidFill>
                  <a:srgbClr val="7A8294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→ USDC 到达账户</a:t>
            </a:r>
            <a:endParaRPr lang="en-US" sz="1100" dirty="0"/>
          </a:p>
        </p:txBody>
      </p:sp>
      <p:sp>
        <p:nvSpPr>
          <p:cNvPr id="15" name="Text 13"/>
          <p:cNvSpPr/>
          <p:nvPr/>
        </p:nvSpPr>
        <p:spPr>
          <a:xfrm>
            <a:off x="4617720" y="2286000"/>
            <a:ext cx="228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dirty="0">
                <a:solidFill>
                  <a:srgbClr val="00D4A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▸</a:t>
            </a:r>
            <a:endParaRPr lang="en-US" sz="1800" dirty="0"/>
          </a:p>
        </p:txBody>
      </p:sp>
      <p:sp>
        <p:nvSpPr>
          <p:cNvPr id="16" name="Shape 14"/>
          <p:cNvSpPr/>
          <p:nvPr/>
        </p:nvSpPr>
        <p:spPr>
          <a:xfrm>
            <a:off x="4846320" y="1371600"/>
            <a:ext cx="1920240" cy="2468880"/>
          </a:xfrm>
          <a:prstGeom prst="rect">
            <a:avLst>
              <a:gd name="adj" fmla="val 3810"/>
            </a:avLst>
          </a:prstGeom>
          <a:solidFill>
            <a:srgbClr val="1A1F2E"/>
          </a:solidFill>
          <a:ln/>
          <a:effectLst>
            <a:outerShdw sx="100000" sy="100000" kx="0" ky="0" algn="bl" rotWithShape="0" blurRad="101600" dist="38100" dir="8100000">
              <a:srgbClr val="000000">
                <a:alpha val="25000"/>
              </a:srgbClr>
            </a:outerShdw>
          </a:effectLst>
        </p:spPr>
      </p:sp>
      <p:sp>
        <p:nvSpPr>
          <p:cNvPr id="17" name="Shape 15"/>
          <p:cNvSpPr/>
          <p:nvPr/>
        </p:nvSpPr>
        <p:spPr>
          <a:xfrm>
            <a:off x="5532120" y="1554480"/>
            <a:ext cx="548640" cy="548640"/>
          </a:xfrm>
          <a:prstGeom prst="oval">
            <a:avLst/>
          </a:prstGeom>
          <a:solidFill>
            <a:srgbClr val="00D4AA"/>
          </a:solidFill>
          <a:ln/>
        </p:spPr>
      </p:sp>
      <p:sp>
        <p:nvSpPr>
          <p:cNvPr id="18" name="Text 16"/>
          <p:cNvSpPr/>
          <p:nvPr/>
        </p:nvSpPr>
        <p:spPr>
          <a:xfrm>
            <a:off x="5532120" y="1554480"/>
            <a:ext cx="548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0A0E1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</a:t>
            </a:r>
            <a:endParaRPr lang="en-US" sz="2200" dirty="0"/>
          </a:p>
        </p:txBody>
      </p:sp>
      <p:sp>
        <p:nvSpPr>
          <p:cNvPr id="19" name="Text 17"/>
          <p:cNvSpPr/>
          <p:nvPr/>
        </p:nvSpPr>
        <p:spPr>
          <a:xfrm>
            <a:off x="4983480" y="2286000"/>
            <a:ext cx="16459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分配</a:t>
            </a:r>
            <a:endParaRPr lang="en-US" sz="1800" dirty="0"/>
          </a:p>
        </p:txBody>
      </p:sp>
      <p:sp>
        <p:nvSpPr>
          <p:cNvPr id="20" name="Text 18"/>
          <p:cNvSpPr/>
          <p:nvPr/>
        </p:nvSpPr>
        <p:spPr>
          <a:xfrm>
            <a:off x="4983480" y="2743200"/>
            <a:ext cx="164592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7A8294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AI 驱动分配引擎</a:t>
            </a:r>
            <a:endParaRPr lang="en-US" sz="1100" dirty="0"/>
          </a:p>
          <a:p>
            <a:pPr algn="ctr" indent="0" marL="0">
              <a:buNone/>
            </a:pPr>
            <a:r>
              <a:rPr lang="en-US" sz="1100" dirty="0">
                <a:solidFill>
                  <a:srgbClr val="7A8294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自动路由至最优策略</a:t>
            </a:r>
            <a:endParaRPr lang="en-US" sz="1100" dirty="0"/>
          </a:p>
          <a:p>
            <a:pPr algn="ctr" indent="0" marL="0">
              <a:buNone/>
            </a:pPr>
            <a:r>
              <a:rPr lang="en-US" sz="1100" dirty="0">
                <a:solidFill>
                  <a:srgbClr val="7A8294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BUIDL、Aave、Morpho</a:t>
            </a:r>
            <a:endParaRPr lang="en-US" sz="1100" dirty="0"/>
          </a:p>
        </p:txBody>
      </p:sp>
      <p:sp>
        <p:nvSpPr>
          <p:cNvPr id="21" name="Text 19"/>
          <p:cNvSpPr/>
          <p:nvPr/>
        </p:nvSpPr>
        <p:spPr>
          <a:xfrm>
            <a:off x="6766560" y="2286000"/>
            <a:ext cx="228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dirty="0">
                <a:solidFill>
                  <a:srgbClr val="00D4A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▸</a:t>
            </a:r>
            <a:endParaRPr lang="en-US" sz="1800" dirty="0"/>
          </a:p>
        </p:txBody>
      </p:sp>
      <p:sp>
        <p:nvSpPr>
          <p:cNvPr id="22" name="Shape 20"/>
          <p:cNvSpPr/>
          <p:nvPr/>
        </p:nvSpPr>
        <p:spPr>
          <a:xfrm>
            <a:off x="6995160" y="1371600"/>
            <a:ext cx="1920240" cy="2468880"/>
          </a:xfrm>
          <a:prstGeom prst="rect">
            <a:avLst>
              <a:gd name="adj" fmla="val 3810"/>
            </a:avLst>
          </a:prstGeom>
          <a:solidFill>
            <a:srgbClr val="1A1F2E"/>
          </a:solidFill>
          <a:ln/>
          <a:effectLst>
            <a:outerShdw sx="100000" sy="100000" kx="0" ky="0" algn="bl" rotWithShape="0" blurRad="101600" dist="38100" dir="8100000">
              <a:srgbClr val="000000">
                <a:alpha val="25000"/>
              </a:srgbClr>
            </a:outerShdw>
          </a:effectLst>
        </p:spPr>
      </p:sp>
      <p:sp>
        <p:nvSpPr>
          <p:cNvPr id="23" name="Shape 21"/>
          <p:cNvSpPr/>
          <p:nvPr/>
        </p:nvSpPr>
        <p:spPr>
          <a:xfrm>
            <a:off x="7680960" y="1554480"/>
            <a:ext cx="548640" cy="548640"/>
          </a:xfrm>
          <a:prstGeom prst="oval">
            <a:avLst/>
          </a:prstGeom>
          <a:solidFill>
            <a:srgbClr val="00D4AA"/>
          </a:solidFill>
          <a:ln/>
        </p:spPr>
      </p:sp>
      <p:sp>
        <p:nvSpPr>
          <p:cNvPr id="24" name="Text 22"/>
          <p:cNvSpPr/>
          <p:nvPr/>
        </p:nvSpPr>
        <p:spPr>
          <a:xfrm>
            <a:off x="7680960" y="1554480"/>
            <a:ext cx="548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0A0E1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4</a:t>
            </a:r>
            <a:endParaRPr lang="en-US" sz="2200" dirty="0"/>
          </a:p>
        </p:txBody>
      </p:sp>
      <p:sp>
        <p:nvSpPr>
          <p:cNvPr id="25" name="Text 23"/>
          <p:cNvSpPr/>
          <p:nvPr/>
        </p:nvSpPr>
        <p:spPr>
          <a:xfrm>
            <a:off x="7132320" y="2286000"/>
            <a:ext cx="16459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收益</a:t>
            </a:r>
            <a:endParaRPr lang="en-US" sz="1800" dirty="0"/>
          </a:p>
        </p:txBody>
      </p:sp>
      <p:sp>
        <p:nvSpPr>
          <p:cNvPr id="26" name="Text 24"/>
          <p:cNvSpPr/>
          <p:nvPr/>
        </p:nvSpPr>
        <p:spPr>
          <a:xfrm>
            <a:off x="7132320" y="2743200"/>
            <a:ext cx="164592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7A8294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每日复利</a:t>
            </a:r>
            <a:endParaRPr lang="en-US" sz="1100" dirty="0"/>
          </a:p>
          <a:p>
            <a:pPr algn="ctr" indent="0" marL="0">
              <a:buNone/>
            </a:pPr>
            <a:r>
              <a:rPr lang="en-US" sz="1100" dirty="0">
                <a:solidFill>
                  <a:srgbClr val="7A8294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实时仪表盘</a:t>
            </a:r>
            <a:endParaRPr lang="en-US" sz="1100" dirty="0"/>
          </a:p>
          <a:p>
            <a:pPr algn="ctr" indent="0" marL="0">
              <a:buNone/>
            </a:pPr>
            <a:r>
              <a:rPr lang="en-US" sz="1100" dirty="0">
                <a:solidFill>
                  <a:srgbClr val="7A8294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一键提现</a:t>
            </a:r>
            <a:endParaRPr lang="en-US" sz="1100" dirty="0"/>
          </a:p>
        </p:txBody>
      </p:sp>
      <p:sp>
        <p:nvSpPr>
          <p:cNvPr id="27" name="Text 25"/>
          <p:cNvSpPr/>
          <p:nvPr/>
        </p:nvSpPr>
        <p:spPr>
          <a:xfrm>
            <a:off x="640080" y="4572000"/>
            <a:ext cx="78638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i="1" dirty="0">
                <a:solidFill>
                  <a:srgbClr val="7A8294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Gas 费？我们代付。  私钥？用户无需触碰。  合规？内建其中。</a:t>
            </a:r>
            <a:endParaRPr lang="en-US" sz="12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0A0E1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320040"/>
            <a:ext cx="78638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让技术「隐形」</a:t>
            </a:r>
            <a:endParaRPr lang="en-US" sz="3000" dirty="0"/>
          </a:p>
        </p:txBody>
      </p:sp>
      <p:sp>
        <p:nvSpPr>
          <p:cNvPr id="3" name="Shape 1"/>
          <p:cNvSpPr/>
          <p:nvPr/>
        </p:nvSpPr>
        <p:spPr>
          <a:xfrm>
            <a:off x="640080" y="850392"/>
            <a:ext cx="731520" cy="36576"/>
          </a:xfrm>
          <a:prstGeom prst="rect">
            <a:avLst/>
          </a:prstGeom>
          <a:solidFill>
            <a:srgbClr val="00D4AA"/>
          </a:solidFill>
          <a:ln/>
        </p:spPr>
      </p:sp>
      <p:sp>
        <p:nvSpPr>
          <p:cNvPr id="4" name="Shape 2"/>
          <p:cNvSpPr/>
          <p:nvPr/>
        </p:nvSpPr>
        <p:spPr>
          <a:xfrm>
            <a:off x="640080" y="1371600"/>
            <a:ext cx="7863840" cy="914400"/>
          </a:xfrm>
          <a:prstGeom prst="rect">
            <a:avLst>
              <a:gd name="adj" fmla="val 8000"/>
            </a:avLst>
          </a:prstGeom>
          <a:solidFill>
            <a:srgbClr val="1A1F2E"/>
          </a:solidFill>
          <a:ln/>
          <a:effectLst>
            <a:outerShdw sx="100000" sy="100000" kx="0" ky="0" algn="bl" rotWithShape="0" blurRad="101600" dist="38100" dir="8100000">
              <a:srgbClr val="000000">
                <a:alpha val="25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640080" y="1371600"/>
            <a:ext cx="54864" cy="914400"/>
          </a:xfrm>
          <a:prstGeom prst="rect">
            <a:avLst/>
          </a:prstGeom>
          <a:solidFill>
            <a:srgbClr val="4DA6FF"/>
          </a:solidFill>
          <a:ln/>
        </p:spPr>
      </p:sp>
      <p:sp>
        <p:nvSpPr>
          <p:cNvPr id="6" name="Text 4"/>
          <p:cNvSpPr/>
          <p:nvPr/>
        </p:nvSpPr>
        <p:spPr>
          <a:xfrm>
            <a:off x="1005840" y="1463040"/>
            <a:ext cx="3657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4DA6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表现层</a:t>
            </a:r>
            <a:endParaRPr lang="en-US" sz="1700" dirty="0"/>
          </a:p>
        </p:txBody>
      </p:sp>
      <p:sp>
        <p:nvSpPr>
          <p:cNvPr id="7" name="Text 5"/>
          <p:cNvSpPr/>
          <p:nvPr/>
        </p:nvSpPr>
        <p:spPr>
          <a:xfrm>
            <a:off x="1005840" y="1755648"/>
            <a:ext cx="50292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C8CDD6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Web 应用 · React Native 移动端 · REST API</a:t>
            </a:r>
            <a:endParaRPr lang="en-US" sz="1400" dirty="0"/>
          </a:p>
        </p:txBody>
      </p:sp>
      <p:sp>
        <p:nvSpPr>
          <p:cNvPr id="8" name="Text 6"/>
          <p:cNvSpPr/>
          <p:nvPr/>
        </p:nvSpPr>
        <p:spPr>
          <a:xfrm>
            <a:off x="1005840" y="1993392"/>
            <a:ext cx="50292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i="1" dirty="0">
                <a:solidFill>
                  <a:srgbClr val="7A8294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「让 CFO 一眼就能看懂的界面」</a:t>
            </a:r>
            <a:endParaRPr lang="en-US" sz="1100" dirty="0"/>
          </a:p>
        </p:txBody>
      </p:sp>
      <p:sp>
        <p:nvSpPr>
          <p:cNvPr id="9" name="Shape 7"/>
          <p:cNvSpPr/>
          <p:nvPr/>
        </p:nvSpPr>
        <p:spPr>
          <a:xfrm>
            <a:off x="640080" y="2468880"/>
            <a:ext cx="7863840" cy="914400"/>
          </a:xfrm>
          <a:prstGeom prst="rect">
            <a:avLst>
              <a:gd name="adj" fmla="val 8000"/>
            </a:avLst>
          </a:prstGeom>
          <a:solidFill>
            <a:srgbClr val="1A1F2E"/>
          </a:solidFill>
          <a:ln/>
          <a:effectLst>
            <a:outerShdw sx="100000" sy="100000" kx="0" ky="0" algn="bl" rotWithShape="0" blurRad="101600" dist="38100" dir="8100000">
              <a:srgbClr val="000000">
                <a:alpha val="25000"/>
              </a:srgbClr>
            </a:outerShdw>
          </a:effectLst>
        </p:spPr>
      </p:sp>
      <p:sp>
        <p:nvSpPr>
          <p:cNvPr id="10" name="Shape 8"/>
          <p:cNvSpPr/>
          <p:nvPr/>
        </p:nvSpPr>
        <p:spPr>
          <a:xfrm>
            <a:off x="640080" y="2468880"/>
            <a:ext cx="54864" cy="914400"/>
          </a:xfrm>
          <a:prstGeom prst="rect">
            <a:avLst/>
          </a:prstGeom>
          <a:solidFill>
            <a:srgbClr val="00D4AA"/>
          </a:solidFill>
          <a:ln/>
        </p:spPr>
      </p:sp>
      <p:sp>
        <p:nvSpPr>
          <p:cNvPr id="11" name="Text 9"/>
          <p:cNvSpPr/>
          <p:nvPr/>
        </p:nvSpPr>
        <p:spPr>
          <a:xfrm>
            <a:off x="1005840" y="2560320"/>
            <a:ext cx="3657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00D4A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智能账户层</a:t>
            </a:r>
            <a:endParaRPr lang="en-US" sz="1700" dirty="0"/>
          </a:p>
        </p:txBody>
      </p:sp>
      <p:sp>
        <p:nvSpPr>
          <p:cNvPr id="12" name="Text 10"/>
          <p:cNvSpPr/>
          <p:nvPr/>
        </p:nvSpPr>
        <p:spPr>
          <a:xfrm>
            <a:off x="1005840" y="2852928"/>
            <a:ext cx="50292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C8CDD6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ERC-4337 · Safe{Core} · Passkey 认证 · 多签审批</a:t>
            </a:r>
            <a:endParaRPr lang="en-US" sz="1400" dirty="0"/>
          </a:p>
        </p:txBody>
      </p:sp>
      <p:sp>
        <p:nvSpPr>
          <p:cNvPr id="13" name="Text 11"/>
          <p:cNvSpPr/>
          <p:nvPr/>
        </p:nvSpPr>
        <p:spPr>
          <a:xfrm>
            <a:off x="1005840" y="3090672"/>
            <a:ext cx="50292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i="1" dirty="0">
                <a:solidFill>
                  <a:srgbClr val="7A8294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「企业级安全，无需助记词」</a:t>
            </a:r>
            <a:endParaRPr lang="en-US" sz="1100" dirty="0"/>
          </a:p>
        </p:txBody>
      </p:sp>
      <p:sp>
        <p:nvSpPr>
          <p:cNvPr id="14" name="Shape 12"/>
          <p:cNvSpPr/>
          <p:nvPr/>
        </p:nvSpPr>
        <p:spPr>
          <a:xfrm>
            <a:off x="640080" y="3566160"/>
            <a:ext cx="7863840" cy="914400"/>
          </a:xfrm>
          <a:prstGeom prst="rect">
            <a:avLst>
              <a:gd name="adj" fmla="val 8000"/>
            </a:avLst>
          </a:prstGeom>
          <a:solidFill>
            <a:srgbClr val="1A1F2E"/>
          </a:solidFill>
          <a:ln/>
          <a:effectLst>
            <a:outerShdw sx="100000" sy="100000" kx="0" ky="0" algn="bl" rotWithShape="0" blurRad="101600" dist="38100" dir="8100000">
              <a:srgbClr val="000000">
                <a:alpha val="25000"/>
              </a:srgbClr>
            </a:outerShdw>
          </a:effectLst>
        </p:spPr>
      </p:sp>
      <p:sp>
        <p:nvSpPr>
          <p:cNvPr id="15" name="Shape 13"/>
          <p:cNvSpPr/>
          <p:nvPr/>
        </p:nvSpPr>
        <p:spPr>
          <a:xfrm>
            <a:off x="640080" y="3566160"/>
            <a:ext cx="54864" cy="914400"/>
          </a:xfrm>
          <a:prstGeom prst="rect">
            <a:avLst/>
          </a:prstGeom>
          <a:solidFill>
            <a:srgbClr val="F0A050"/>
          </a:solidFill>
          <a:ln/>
        </p:spPr>
      </p:sp>
      <p:sp>
        <p:nvSpPr>
          <p:cNvPr id="16" name="Text 14"/>
          <p:cNvSpPr/>
          <p:nvPr/>
        </p:nvSpPr>
        <p:spPr>
          <a:xfrm>
            <a:off x="1005840" y="3657600"/>
            <a:ext cx="3657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F0A05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策略适配层</a:t>
            </a:r>
            <a:endParaRPr lang="en-US" sz="1700" dirty="0"/>
          </a:p>
        </p:txBody>
      </p:sp>
      <p:sp>
        <p:nvSpPr>
          <p:cNvPr id="17" name="Text 15"/>
          <p:cNvSpPr/>
          <p:nvPr/>
        </p:nvSpPr>
        <p:spPr>
          <a:xfrm>
            <a:off x="1005840" y="3950208"/>
            <a:ext cx="50292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C8CDD6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BUIDL | Aave V4 | Morpho | Ondo USDY | Ethena USDe</a:t>
            </a:r>
            <a:endParaRPr lang="en-US" sz="1400" dirty="0"/>
          </a:p>
        </p:txBody>
      </p:sp>
      <p:sp>
        <p:nvSpPr>
          <p:cNvPr id="18" name="Text 16"/>
          <p:cNvSpPr/>
          <p:nvPr/>
        </p:nvSpPr>
        <p:spPr>
          <a:xfrm>
            <a:off x="1005840" y="4187952"/>
            <a:ext cx="50292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i="1" dirty="0">
                <a:solidFill>
                  <a:srgbClr val="7A8294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「多元化收益来源，自动优化配置」</a:t>
            </a:r>
            <a:endParaRPr lang="en-US" sz="1100" dirty="0"/>
          </a:p>
        </p:txBody>
      </p:sp>
      <p:sp>
        <p:nvSpPr>
          <p:cNvPr id="19" name="Shape 17"/>
          <p:cNvSpPr/>
          <p:nvPr/>
        </p:nvSpPr>
        <p:spPr>
          <a:xfrm>
            <a:off x="640080" y="4389120"/>
            <a:ext cx="7863840" cy="548640"/>
          </a:xfrm>
          <a:prstGeom prst="rect">
            <a:avLst>
              <a:gd name="adj" fmla="val 13333"/>
            </a:avLst>
          </a:prstGeom>
          <a:solidFill>
            <a:srgbClr val="1A1F2E"/>
          </a:solidFill>
          <a:ln/>
          <a:effectLst>
            <a:outerShdw sx="100000" sy="100000" kx="0" ky="0" algn="bl" rotWithShape="0" blurRad="101600" dist="38100" dir="8100000">
              <a:srgbClr val="000000">
                <a:alpha val="25000"/>
              </a:srgbClr>
            </a:outerShdw>
          </a:effectLst>
        </p:spPr>
      </p:sp>
      <p:sp>
        <p:nvSpPr>
          <p:cNvPr id="20" name="Shape 18"/>
          <p:cNvSpPr/>
          <p:nvPr/>
        </p:nvSpPr>
        <p:spPr>
          <a:xfrm>
            <a:off x="822960" y="4462272"/>
            <a:ext cx="1737360" cy="402336"/>
          </a:xfrm>
          <a:prstGeom prst="rect">
            <a:avLst>
              <a:gd name="adj" fmla="val 13636"/>
            </a:avLst>
          </a:prstGeom>
          <a:solidFill>
            <a:srgbClr val="131820"/>
          </a:solidFill>
          <a:ln/>
        </p:spPr>
      </p:sp>
      <p:sp>
        <p:nvSpPr>
          <p:cNvPr id="21" name="Text 19"/>
          <p:cNvSpPr/>
          <p:nvPr/>
        </p:nvSpPr>
        <p:spPr>
          <a:xfrm>
            <a:off x="822960" y="4462272"/>
            <a:ext cx="173736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00D4A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SOC 2 认证</a:t>
            </a:r>
            <a:endParaRPr lang="en-US" sz="1100" dirty="0"/>
          </a:p>
        </p:txBody>
      </p:sp>
      <p:sp>
        <p:nvSpPr>
          <p:cNvPr id="22" name="Shape 20"/>
          <p:cNvSpPr/>
          <p:nvPr/>
        </p:nvSpPr>
        <p:spPr>
          <a:xfrm>
            <a:off x="2743200" y="4462272"/>
            <a:ext cx="1737360" cy="402336"/>
          </a:xfrm>
          <a:prstGeom prst="rect">
            <a:avLst>
              <a:gd name="adj" fmla="val 13636"/>
            </a:avLst>
          </a:prstGeom>
          <a:solidFill>
            <a:srgbClr val="131820"/>
          </a:solidFill>
          <a:ln/>
        </p:spPr>
      </p:sp>
      <p:sp>
        <p:nvSpPr>
          <p:cNvPr id="23" name="Text 21"/>
          <p:cNvSpPr/>
          <p:nvPr/>
        </p:nvSpPr>
        <p:spPr>
          <a:xfrm>
            <a:off x="2743200" y="4462272"/>
            <a:ext cx="173736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00D4A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ISO 27001</a:t>
            </a:r>
            <a:endParaRPr lang="en-US" sz="1100" dirty="0"/>
          </a:p>
        </p:txBody>
      </p:sp>
      <p:sp>
        <p:nvSpPr>
          <p:cNvPr id="24" name="Shape 22"/>
          <p:cNvSpPr/>
          <p:nvPr/>
        </p:nvSpPr>
        <p:spPr>
          <a:xfrm>
            <a:off x="4663440" y="4462272"/>
            <a:ext cx="1737360" cy="402336"/>
          </a:xfrm>
          <a:prstGeom prst="rect">
            <a:avLst>
              <a:gd name="adj" fmla="val 13636"/>
            </a:avLst>
          </a:prstGeom>
          <a:solidFill>
            <a:srgbClr val="131820"/>
          </a:solidFill>
          <a:ln/>
        </p:spPr>
      </p:sp>
      <p:sp>
        <p:nvSpPr>
          <p:cNvPr id="25" name="Text 23"/>
          <p:cNvSpPr/>
          <p:nvPr/>
        </p:nvSpPr>
        <p:spPr>
          <a:xfrm>
            <a:off x="4663440" y="4462272"/>
            <a:ext cx="173736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00D4A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多签治理</a:t>
            </a:r>
            <a:endParaRPr lang="en-US" sz="1100" dirty="0"/>
          </a:p>
        </p:txBody>
      </p:sp>
      <p:sp>
        <p:nvSpPr>
          <p:cNvPr id="26" name="Shape 24"/>
          <p:cNvSpPr/>
          <p:nvPr/>
        </p:nvSpPr>
        <p:spPr>
          <a:xfrm>
            <a:off x="6583680" y="4462272"/>
            <a:ext cx="1737360" cy="402336"/>
          </a:xfrm>
          <a:prstGeom prst="rect">
            <a:avLst>
              <a:gd name="adj" fmla="val 13636"/>
            </a:avLst>
          </a:prstGeom>
          <a:solidFill>
            <a:srgbClr val="131820"/>
          </a:solidFill>
          <a:ln/>
        </p:spPr>
      </p:sp>
      <p:sp>
        <p:nvSpPr>
          <p:cNvPr id="27" name="Text 25"/>
          <p:cNvSpPr/>
          <p:nvPr/>
        </p:nvSpPr>
        <p:spPr>
          <a:xfrm>
            <a:off x="6583680" y="4462272"/>
            <a:ext cx="173736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00D4A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Nexus Mutual 保险</a:t>
            </a:r>
            <a:endParaRPr lang="en-US" sz="11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0A0E1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320040"/>
            <a:ext cx="78638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三重顺风汇聚</a:t>
            </a:r>
            <a:endParaRPr lang="en-US" sz="3000" dirty="0"/>
          </a:p>
        </p:txBody>
      </p:sp>
      <p:sp>
        <p:nvSpPr>
          <p:cNvPr id="3" name="Shape 1"/>
          <p:cNvSpPr/>
          <p:nvPr/>
        </p:nvSpPr>
        <p:spPr>
          <a:xfrm>
            <a:off x="640080" y="850392"/>
            <a:ext cx="731520" cy="36576"/>
          </a:xfrm>
          <a:prstGeom prst="rect">
            <a:avLst/>
          </a:prstGeom>
          <a:solidFill>
            <a:srgbClr val="00D4AA"/>
          </a:solidFill>
          <a:ln/>
        </p:spPr>
      </p:sp>
      <p:sp>
        <p:nvSpPr>
          <p:cNvPr id="4" name="Shape 2"/>
          <p:cNvSpPr/>
          <p:nvPr/>
        </p:nvSpPr>
        <p:spPr>
          <a:xfrm>
            <a:off x="457200" y="1280160"/>
            <a:ext cx="2651760" cy="3474720"/>
          </a:xfrm>
          <a:prstGeom prst="rect">
            <a:avLst>
              <a:gd name="adj" fmla="val 2759"/>
            </a:avLst>
          </a:prstGeom>
          <a:solidFill>
            <a:srgbClr val="1A1F2E"/>
          </a:solidFill>
          <a:ln/>
          <a:effectLst>
            <a:outerShdw sx="100000" sy="100000" kx="0" ky="0" algn="bl" rotWithShape="0" blurRad="101600" dist="38100" dir="8100000">
              <a:srgbClr val="000000">
                <a:alpha val="25000"/>
              </a:srgbClr>
            </a:outerShdw>
          </a:effectLst>
        </p:spPr>
      </p:sp>
      <p:sp>
        <p:nvSpPr>
          <p:cNvPr id="5" name="Text 3"/>
          <p:cNvSpPr/>
          <p:nvPr/>
        </p:nvSpPr>
        <p:spPr>
          <a:xfrm>
            <a:off x="640080" y="1417320"/>
            <a:ext cx="22860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监管明朗化</a:t>
            </a:r>
            <a:endParaRPr lang="en-US" sz="1800" dirty="0"/>
          </a:p>
        </p:txBody>
      </p:sp>
      <p:sp>
        <p:nvSpPr>
          <p:cNvPr id="6" name="Text 4"/>
          <p:cNvSpPr/>
          <p:nvPr/>
        </p:nvSpPr>
        <p:spPr>
          <a:xfrm>
            <a:off x="640080" y="1965960"/>
            <a:ext cx="2286000" cy="2560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100" dirty="0">
                <a:solidFill>
                  <a:srgbClr val="C8CDD6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美国 GENIUS 法案通过（联邦框架）</a:t>
            </a:r>
            <a:endParaRPr lang="en-US" sz="11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100" dirty="0">
                <a:solidFill>
                  <a:srgbClr val="C8CDD6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欧盟 MiCA 全面生效</a:t>
            </a:r>
            <a:endParaRPr lang="en-US" sz="11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100" dirty="0">
                <a:solidFill>
                  <a:srgbClr val="C8CDD6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香港/新加坡监管框架落地</a:t>
            </a:r>
            <a:endParaRPr lang="en-US" sz="11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100" dirty="0">
                <a:solidFill>
                  <a:srgbClr val="C8CDD6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稳定币被认定为受监管金融工具</a:t>
            </a:r>
            <a:endParaRPr lang="en-US" sz="1100" dirty="0"/>
          </a:p>
        </p:txBody>
      </p:sp>
      <p:sp>
        <p:nvSpPr>
          <p:cNvPr id="7" name="Shape 5"/>
          <p:cNvSpPr/>
          <p:nvPr/>
        </p:nvSpPr>
        <p:spPr>
          <a:xfrm>
            <a:off x="3337560" y="1280160"/>
            <a:ext cx="2651760" cy="3474720"/>
          </a:xfrm>
          <a:prstGeom prst="rect">
            <a:avLst>
              <a:gd name="adj" fmla="val 2759"/>
            </a:avLst>
          </a:prstGeom>
          <a:solidFill>
            <a:srgbClr val="1A1F2E"/>
          </a:solidFill>
          <a:ln/>
          <a:effectLst>
            <a:outerShdw sx="100000" sy="100000" kx="0" ky="0" algn="bl" rotWithShape="0" blurRad="101600" dist="38100" dir="8100000">
              <a:srgbClr val="000000">
                <a:alpha val="25000"/>
              </a:srgbClr>
            </a:outerShdw>
          </a:effectLst>
        </p:spPr>
      </p:sp>
      <p:sp>
        <p:nvSpPr>
          <p:cNvPr id="8" name="Text 6"/>
          <p:cNvSpPr/>
          <p:nvPr/>
        </p:nvSpPr>
        <p:spPr>
          <a:xfrm>
            <a:off x="3520440" y="1417320"/>
            <a:ext cx="22860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基础设施成熟</a:t>
            </a:r>
            <a:endParaRPr lang="en-US" sz="1800" dirty="0"/>
          </a:p>
        </p:txBody>
      </p:sp>
      <p:sp>
        <p:nvSpPr>
          <p:cNvPr id="9" name="Text 7"/>
          <p:cNvSpPr/>
          <p:nvPr/>
        </p:nvSpPr>
        <p:spPr>
          <a:xfrm>
            <a:off x="3520440" y="1965960"/>
            <a:ext cx="2286000" cy="2560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100" dirty="0">
                <a:solidFill>
                  <a:srgbClr val="C8CDD6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ERC-4337 账户抽象主流 L2 全覆盖</a:t>
            </a:r>
            <a:endParaRPr lang="en-US" sz="11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100" dirty="0">
                <a:solidFill>
                  <a:srgbClr val="C8CDD6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Passkey 在所有浏览器和设备上可用</a:t>
            </a:r>
            <a:endParaRPr lang="en-US" sz="11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100" dirty="0">
                <a:solidFill>
                  <a:srgbClr val="C8CDD6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Base/Solana 交易费低于 $0.001</a:t>
            </a:r>
            <a:endParaRPr lang="en-US" sz="11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100" dirty="0">
                <a:solidFill>
                  <a:srgbClr val="C8CDD6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Chainlink + Pyth 预言机可靠运行</a:t>
            </a:r>
            <a:endParaRPr lang="en-US" sz="1100" dirty="0"/>
          </a:p>
        </p:txBody>
      </p:sp>
      <p:sp>
        <p:nvSpPr>
          <p:cNvPr id="10" name="Shape 8"/>
          <p:cNvSpPr/>
          <p:nvPr/>
        </p:nvSpPr>
        <p:spPr>
          <a:xfrm>
            <a:off x="6217920" y="1280160"/>
            <a:ext cx="2651760" cy="3474720"/>
          </a:xfrm>
          <a:prstGeom prst="rect">
            <a:avLst>
              <a:gd name="adj" fmla="val 2759"/>
            </a:avLst>
          </a:prstGeom>
          <a:solidFill>
            <a:srgbClr val="1A1F2E"/>
          </a:solidFill>
          <a:ln/>
          <a:effectLst>
            <a:outerShdw sx="100000" sy="100000" kx="0" ky="0" algn="bl" rotWithShape="0" blurRad="101600" dist="38100" dir="8100000">
              <a:srgbClr val="000000">
                <a:alpha val="25000"/>
              </a:srgbClr>
            </a:outerShdw>
          </a:effectLst>
        </p:spPr>
      </p:sp>
      <p:sp>
        <p:nvSpPr>
          <p:cNvPr id="11" name="Text 9"/>
          <p:cNvSpPr/>
          <p:nvPr/>
        </p:nvSpPr>
        <p:spPr>
          <a:xfrm>
            <a:off x="6400800" y="1417320"/>
            <a:ext cx="22860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市场需求爆发</a:t>
            </a:r>
            <a:endParaRPr lang="en-US" sz="1800" dirty="0"/>
          </a:p>
        </p:txBody>
      </p:sp>
      <p:sp>
        <p:nvSpPr>
          <p:cNvPr id="12" name="Text 10"/>
          <p:cNvSpPr/>
          <p:nvPr/>
        </p:nvSpPr>
        <p:spPr>
          <a:xfrm>
            <a:off x="6400800" y="1965960"/>
            <a:ext cx="2286000" cy="2560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100" dirty="0">
                <a:solidFill>
                  <a:srgbClr val="C8CDD6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Stripe $11亿 收购 Bridge（稳定币基建）</a:t>
            </a:r>
            <a:endParaRPr lang="en-US" sz="11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100" dirty="0">
                <a:solidFill>
                  <a:srgbClr val="C8CDD6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PayPal 发行 PYUSD，覆盖 4.3 亿用户</a:t>
            </a:r>
            <a:endParaRPr lang="en-US" sz="11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100" dirty="0">
                <a:solidFill>
                  <a:srgbClr val="C8CDD6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贝莱德 BUIDL AUM 突破 $800亿</a:t>
            </a:r>
            <a:endParaRPr lang="en-US" sz="11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100" dirty="0">
                <a:solidFill>
                  <a:srgbClr val="C8CDD6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稳定币年转账量同比增长 200%</a:t>
            </a:r>
            <a:endParaRPr lang="en-US" sz="11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0A0E1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320040"/>
            <a:ext cx="78638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我们占据的市场空白</a:t>
            </a:r>
            <a:endParaRPr lang="en-US" sz="3000" dirty="0"/>
          </a:p>
        </p:txBody>
      </p:sp>
      <p:sp>
        <p:nvSpPr>
          <p:cNvPr id="3" name="Shape 1"/>
          <p:cNvSpPr/>
          <p:nvPr/>
        </p:nvSpPr>
        <p:spPr>
          <a:xfrm>
            <a:off x="640080" y="850392"/>
            <a:ext cx="731520" cy="36576"/>
          </a:xfrm>
          <a:prstGeom prst="rect">
            <a:avLst/>
          </a:prstGeom>
          <a:solidFill>
            <a:srgbClr val="00D4AA"/>
          </a:solidFill>
          <a:ln/>
        </p:spPr>
      </p:sp>
      <p:sp>
        <p:nvSpPr>
          <p:cNvPr id="4" name="Shape 2"/>
          <p:cNvSpPr/>
          <p:nvPr/>
        </p:nvSpPr>
        <p:spPr>
          <a:xfrm>
            <a:off x="640080" y="1371600"/>
            <a:ext cx="5303520" cy="3474720"/>
          </a:xfrm>
          <a:prstGeom prst="rect">
            <a:avLst>
              <a:gd name="adj" fmla="val 2105"/>
            </a:avLst>
          </a:prstGeom>
          <a:solidFill>
            <a:srgbClr val="1A1F2E"/>
          </a:solidFill>
          <a:ln/>
          <a:effectLst>
            <a:outerShdw sx="100000" sy="100000" kx="0" ky="0" algn="bl" rotWithShape="0" blurRad="101600" dist="38100" dir="8100000">
              <a:srgbClr val="000000">
                <a:alpha val="25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3291840" y="1371600"/>
            <a:ext cx="0" cy="3474720"/>
          </a:xfrm>
          <a:prstGeom prst="line">
            <a:avLst/>
          </a:prstGeom>
          <a:noFill/>
          <a:ln w="12700">
            <a:solidFill>
              <a:srgbClr val="2A3040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640080" y="3108960"/>
            <a:ext cx="5303520" cy="0"/>
          </a:xfrm>
          <a:prstGeom prst="line">
            <a:avLst/>
          </a:prstGeom>
          <a:noFill/>
          <a:ln w="12700">
            <a:solidFill>
              <a:srgbClr val="2A3040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685800" y="1417320"/>
            <a:ext cx="10972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7A8294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加密原生</a:t>
            </a:r>
            <a:endParaRPr lang="en-US" sz="900" dirty="0"/>
          </a:p>
        </p:txBody>
      </p:sp>
      <p:sp>
        <p:nvSpPr>
          <p:cNvPr id="8" name="Text 6"/>
          <p:cNvSpPr/>
          <p:nvPr/>
        </p:nvSpPr>
        <p:spPr>
          <a:xfrm>
            <a:off x="4846320" y="1417320"/>
            <a:ext cx="10972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7A8294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传统用户</a:t>
            </a:r>
            <a:endParaRPr lang="en-US" sz="900" dirty="0"/>
          </a:p>
        </p:txBody>
      </p:sp>
      <p:sp>
        <p:nvSpPr>
          <p:cNvPr id="9" name="Text 7"/>
          <p:cNvSpPr/>
          <p:nvPr/>
        </p:nvSpPr>
        <p:spPr>
          <a:xfrm>
            <a:off x="685800" y="1645920"/>
            <a:ext cx="54864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7A8294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零售</a:t>
            </a:r>
            <a:endParaRPr lang="en-US" sz="900" dirty="0"/>
          </a:p>
        </p:txBody>
      </p:sp>
      <p:sp>
        <p:nvSpPr>
          <p:cNvPr id="10" name="Text 8"/>
          <p:cNvSpPr/>
          <p:nvPr/>
        </p:nvSpPr>
        <p:spPr>
          <a:xfrm>
            <a:off x="685800" y="4343400"/>
            <a:ext cx="54864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7A8294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企业</a:t>
            </a:r>
            <a:endParaRPr lang="en-US" sz="900" dirty="0"/>
          </a:p>
        </p:txBody>
      </p:sp>
      <p:sp>
        <p:nvSpPr>
          <p:cNvPr id="11" name="Shape 9"/>
          <p:cNvSpPr/>
          <p:nvPr/>
        </p:nvSpPr>
        <p:spPr>
          <a:xfrm>
            <a:off x="914400" y="1828800"/>
            <a:ext cx="1005840" cy="594360"/>
          </a:xfrm>
          <a:prstGeom prst="rect">
            <a:avLst>
              <a:gd name="adj" fmla="val 7692"/>
            </a:avLst>
          </a:prstGeom>
          <a:solidFill>
            <a:srgbClr val="131820"/>
          </a:solidFill>
          <a:ln/>
        </p:spPr>
      </p:sp>
      <p:sp>
        <p:nvSpPr>
          <p:cNvPr id="12" name="Text 10"/>
          <p:cNvSpPr/>
          <p:nvPr/>
        </p:nvSpPr>
        <p:spPr>
          <a:xfrm>
            <a:off x="914400" y="1828800"/>
            <a:ext cx="100584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7A8294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Aave /</a:t>
            </a:r>
            <a:endParaRPr lang="en-US" sz="1000" dirty="0"/>
          </a:p>
          <a:p>
            <a:pPr algn="ctr" indent="0" marL="0">
              <a:buNone/>
            </a:pPr>
            <a:r>
              <a:rPr lang="en-US" sz="1000" dirty="0">
                <a:solidFill>
                  <a:srgbClr val="7A8294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Morpho</a:t>
            </a:r>
            <a:endParaRPr lang="en-US" sz="1000" dirty="0"/>
          </a:p>
        </p:txBody>
      </p:sp>
      <p:sp>
        <p:nvSpPr>
          <p:cNvPr id="13" name="Shape 11"/>
          <p:cNvSpPr/>
          <p:nvPr/>
        </p:nvSpPr>
        <p:spPr>
          <a:xfrm>
            <a:off x="2194560" y="2468880"/>
            <a:ext cx="1005840" cy="594360"/>
          </a:xfrm>
          <a:prstGeom prst="rect">
            <a:avLst>
              <a:gd name="adj" fmla="val 7692"/>
            </a:avLst>
          </a:prstGeom>
          <a:solidFill>
            <a:srgbClr val="131820"/>
          </a:solidFill>
          <a:ln/>
        </p:spPr>
      </p:sp>
      <p:sp>
        <p:nvSpPr>
          <p:cNvPr id="14" name="Text 12"/>
          <p:cNvSpPr/>
          <p:nvPr/>
        </p:nvSpPr>
        <p:spPr>
          <a:xfrm>
            <a:off x="2194560" y="2468880"/>
            <a:ext cx="100584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7A8294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Ondo</a:t>
            </a:r>
            <a:endParaRPr lang="en-US" sz="1000" dirty="0"/>
          </a:p>
          <a:p>
            <a:pPr algn="ctr" indent="0" marL="0">
              <a:buNone/>
            </a:pPr>
            <a:r>
              <a:rPr lang="en-US" sz="1000" dirty="0">
                <a:solidFill>
                  <a:srgbClr val="7A8294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Finance</a:t>
            </a:r>
            <a:endParaRPr lang="en-US" sz="1000" dirty="0"/>
          </a:p>
        </p:txBody>
      </p:sp>
      <p:sp>
        <p:nvSpPr>
          <p:cNvPr id="15" name="Shape 13"/>
          <p:cNvSpPr/>
          <p:nvPr/>
        </p:nvSpPr>
        <p:spPr>
          <a:xfrm>
            <a:off x="1097280" y="3566160"/>
            <a:ext cx="1005840" cy="594360"/>
          </a:xfrm>
          <a:prstGeom prst="rect">
            <a:avLst>
              <a:gd name="adj" fmla="val 7692"/>
            </a:avLst>
          </a:prstGeom>
          <a:solidFill>
            <a:srgbClr val="131820"/>
          </a:solidFill>
          <a:ln/>
        </p:spPr>
      </p:sp>
      <p:sp>
        <p:nvSpPr>
          <p:cNvPr id="16" name="Text 14"/>
          <p:cNvSpPr/>
          <p:nvPr/>
        </p:nvSpPr>
        <p:spPr>
          <a:xfrm>
            <a:off x="1097280" y="3566160"/>
            <a:ext cx="100584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7A8294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Coinbase</a:t>
            </a:r>
            <a:endParaRPr lang="en-US" sz="1000" dirty="0"/>
          </a:p>
          <a:p>
            <a:pPr algn="ctr" indent="0" marL="0">
              <a:buNone/>
            </a:pPr>
            <a:r>
              <a:rPr lang="en-US" sz="1000" dirty="0">
                <a:solidFill>
                  <a:srgbClr val="7A8294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机构版</a:t>
            </a:r>
            <a:endParaRPr lang="en-US" sz="1000" dirty="0"/>
          </a:p>
        </p:txBody>
      </p:sp>
      <p:sp>
        <p:nvSpPr>
          <p:cNvPr id="17" name="Shape 15"/>
          <p:cNvSpPr/>
          <p:nvPr/>
        </p:nvSpPr>
        <p:spPr>
          <a:xfrm>
            <a:off x="4114800" y="3840480"/>
            <a:ext cx="1005840" cy="594360"/>
          </a:xfrm>
          <a:prstGeom prst="rect">
            <a:avLst>
              <a:gd name="adj" fmla="val 7692"/>
            </a:avLst>
          </a:prstGeom>
          <a:solidFill>
            <a:srgbClr val="131820"/>
          </a:solidFill>
          <a:ln/>
        </p:spPr>
      </p:sp>
      <p:sp>
        <p:nvSpPr>
          <p:cNvPr id="18" name="Text 16"/>
          <p:cNvSpPr/>
          <p:nvPr/>
        </p:nvSpPr>
        <p:spPr>
          <a:xfrm>
            <a:off x="4114800" y="3840480"/>
            <a:ext cx="100584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7A8294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传统银行</a:t>
            </a:r>
            <a:endParaRPr lang="en-US" sz="1000" dirty="0"/>
          </a:p>
        </p:txBody>
      </p:sp>
      <p:sp>
        <p:nvSpPr>
          <p:cNvPr id="19" name="Shape 17"/>
          <p:cNvSpPr/>
          <p:nvPr/>
        </p:nvSpPr>
        <p:spPr>
          <a:xfrm>
            <a:off x="3749040" y="1828800"/>
            <a:ext cx="1645920" cy="685800"/>
          </a:xfrm>
          <a:prstGeom prst="rect">
            <a:avLst>
              <a:gd name="adj" fmla="val 8000"/>
            </a:avLst>
          </a:prstGeom>
          <a:solidFill>
            <a:srgbClr val="00D4AA"/>
          </a:solidFill>
          <a:ln/>
          <a:effectLst>
            <a:outerShdw sx="100000" sy="100000" kx="0" ky="0" algn="bl" rotWithShape="0" blurRad="101600" dist="38100" dir="8100000">
              <a:srgbClr val="000000">
                <a:alpha val="25000"/>
              </a:srgbClr>
            </a:outerShdw>
          </a:effectLst>
        </p:spPr>
      </p:sp>
      <p:sp>
        <p:nvSpPr>
          <p:cNvPr id="20" name="Text 18"/>
          <p:cNvSpPr/>
          <p:nvPr/>
        </p:nvSpPr>
        <p:spPr>
          <a:xfrm>
            <a:off x="3749040" y="1828800"/>
            <a:ext cx="164592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0A0E1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YieldNest</a:t>
            </a:r>
            <a:endParaRPr lang="en-US" sz="1400" dirty="0"/>
          </a:p>
        </p:txBody>
      </p:sp>
      <p:sp>
        <p:nvSpPr>
          <p:cNvPr id="21" name="Text 19"/>
          <p:cNvSpPr/>
          <p:nvPr/>
        </p:nvSpPr>
        <p:spPr>
          <a:xfrm>
            <a:off x="4846320" y="640080"/>
            <a:ext cx="2286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00D4A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◁  市场空白</a:t>
            </a:r>
            <a:endParaRPr lang="en-US" sz="1000" dirty="0"/>
          </a:p>
        </p:txBody>
      </p:sp>
      <p:sp>
        <p:nvSpPr>
          <p:cNvPr id="22" name="Text 20"/>
          <p:cNvSpPr/>
          <p:nvPr/>
        </p:nvSpPr>
        <p:spPr>
          <a:xfrm>
            <a:off x="4846320" y="868680"/>
            <a:ext cx="22860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7A8294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企业 + 传统用户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7A8294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没有竞争对手</a:t>
            </a:r>
            <a:endParaRPr lang="en-US" sz="1000" dirty="0"/>
          </a:p>
        </p:txBody>
      </p:sp>
      <p:sp>
        <p:nvSpPr>
          <p:cNvPr id="23" name="Text 21"/>
          <p:cNvSpPr/>
          <p:nvPr/>
        </p:nvSpPr>
        <p:spPr>
          <a:xfrm>
            <a:off x="6309360" y="2011680"/>
            <a:ext cx="25603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市场空白</a:t>
            </a:r>
            <a:endParaRPr lang="en-US" sz="1600" dirty="0"/>
          </a:p>
        </p:txBody>
      </p:sp>
      <p:sp>
        <p:nvSpPr>
          <p:cNvPr id="24" name="Text 22"/>
          <p:cNvSpPr/>
          <p:nvPr/>
        </p:nvSpPr>
        <p:spPr>
          <a:xfrm>
            <a:off x="6309360" y="2377440"/>
            <a:ext cx="2560320" cy="22860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C8CDD6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现有 DeFi 产品服务</a:t>
            </a:r>
            <a:endParaRPr lang="en-US" sz="1200" dirty="0"/>
          </a:p>
          <a:p>
            <a:pPr indent="0" marL="0">
              <a:spcAft>
                <a:spcPts val="1200"/>
              </a:spcAft>
              <a:buNone/>
            </a:pPr>
            <a:r>
              <a:rPr lang="en-US" sz="1200" dirty="0">
                <a:solidFill>
                  <a:srgbClr val="C8CDD6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加密原生用户。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C8CDD6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传统银行服务企业，</a:t>
            </a:r>
            <a:endParaRPr lang="en-US" sz="1200" dirty="0"/>
          </a:p>
          <a:p>
            <a:pPr indent="0" marL="0">
              <a:spcAft>
                <a:spcPts val="1200"/>
              </a:spcAft>
              <a:buNone/>
            </a:pPr>
            <a:r>
              <a:rPr lang="en-US" sz="1200" dirty="0">
                <a:solidFill>
                  <a:srgbClr val="C8CDD6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但收益几乎为零。</a:t>
            </a:r>
            <a:endParaRPr lang="en-US" sz="1200" dirty="0"/>
          </a:p>
          <a:p>
            <a:pPr indent="0" marL="0">
              <a:buNone/>
            </a:pPr>
            <a:r>
              <a:rPr lang="en-US" sz="1200" b="1" dirty="0">
                <a:solidFill>
                  <a:srgbClr val="00D4A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YieldNest 桥接二者：</a:t>
            </a:r>
            <a:endParaRPr lang="en-US" sz="1200" dirty="0"/>
          </a:p>
          <a:p>
            <a:pPr indent="0" marL="0">
              <a:buNone/>
            </a:pPr>
            <a:r>
              <a:rPr lang="en-US" sz="1200" b="1" dirty="0">
                <a:solidFill>
                  <a:srgbClr val="00D4A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企业级体验 + DeFi 收益。</a:t>
            </a:r>
            <a:endParaRPr lang="en-US" sz="12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0A0E1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320040"/>
            <a:ext cx="78638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收入模型</a:t>
            </a:r>
            <a:endParaRPr lang="en-US" sz="3000" dirty="0"/>
          </a:p>
        </p:txBody>
      </p:sp>
      <p:sp>
        <p:nvSpPr>
          <p:cNvPr id="3" name="Shape 1"/>
          <p:cNvSpPr/>
          <p:nvPr/>
        </p:nvSpPr>
        <p:spPr>
          <a:xfrm>
            <a:off x="640080" y="850392"/>
            <a:ext cx="731520" cy="36576"/>
          </a:xfrm>
          <a:prstGeom prst="rect">
            <a:avLst/>
          </a:prstGeom>
          <a:solidFill>
            <a:srgbClr val="00D4AA"/>
          </a:solidFill>
          <a:ln/>
        </p:spPr>
      </p:sp>
      <p:sp>
        <p:nvSpPr>
          <p:cNvPr id="4" name="Shape 2"/>
          <p:cNvSpPr/>
          <p:nvPr/>
        </p:nvSpPr>
        <p:spPr>
          <a:xfrm>
            <a:off x="640080" y="1280160"/>
            <a:ext cx="7863840" cy="685800"/>
          </a:xfrm>
          <a:prstGeom prst="rect">
            <a:avLst>
              <a:gd name="adj" fmla="val 10667"/>
            </a:avLst>
          </a:prstGeom>
          <a:solidFill>
            <a:srgbClr val="1A1F2E"/>
          </a:solidFill>
          <a:ln/>
          <a:effectLst>
            <a:outerShdw sx="100000" sy="100000" kx="0" ky="0" algn="bl" rotWithShape="0" blurRad="101600" dist="38100" dir="8100000">
              <a:srgbClr val="000000">
                <a:alpha val="25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640080" y="1280160"/>
            <a:ext cx="54864" cy="685800"/>
          </a:xfrm>
          <a:prstGeom prst="rect">
            <a:avLst/>
          </a:prstGeom>
          <a:solidFill>
            <a:srgbClr val="00D4AA"/>
          </a:solidFill>
          <a:ln/>
        </p:spPr>
      </p:sp>
      <p:sp>
        <p:nvSpPr>
          <p:cNvPr id="6" name="Text 4"/>
          <p:cNvSpPr/>
          <p:nvPr/>
        </p:nvSpPr>
        <p:spPr>
          <a:xfrm>
            <a:off x="1005840" y="1325880"/>
            <a:ext cx="2286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00D4A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AUM 管理费</a:t>
            </a:r>
            <a:endParaRPr lang="en-US" sz="1500" dirty="0"/>
          </a:p>
        </p:txBody>
      </p:sp>
      <p:sp>
        <p:nvSpPr>
          <p:cNvPr id="7" name="Text 5"/>
          <p:cNvSpPr/>
          <p:nvPr/>
        </p:nvSpPr>
        <p:spPr>
          <a:xfrm>
            <a:off x="1005840" y="1554480"/>
            <a:ext cx="22860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7A829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0.3-0.5%</a:t>
            </a:r>
            <a:endParaRPr lang="en-US" sz="1200" dirty="0"/>
          </a:p>
        </p:txBody>
      </p:sp>
      <p:sp>
        <p:nvSpPr>
          <p:cNvPr id="8" name="Text 6"/>
          <p:cNvSpPr/>
          <p:nvPr/>
        </p:nvSpPr>
        <p:spPr>
          <a:xfrm>
            <a:off x="3474720" y="1371600"/>
            <a:ext cx="27432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C8CDD6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年化计提，核心收入来源</a:t>
            </a:r>
            <a:endParaRPr lang="en-US" sz="1300" dirty="0"/>
          </a:p>
        </p:txBody>
      </p:sp>
      <p:sp>
        <p:nvSpPr>
          <p:cNvPr id="9" name="Text 7"/>
          <p:cNvSpPr/>
          <p:nvPr/>
        </p:nvSpPr>
        <p:spPr>
          <a:xfrm>
            <a:off x="6217920" y="1371600"/>
            <a:ext cx="21031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i="1" dirty="0">
                <a:solidFill>
                  <a:srgbClr val="7A8294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$5亿 AUM → $150-250万/年</a:t>
            </a:r>
            <a:endParaRPr lang="en-US" sz="1100" dirty="0"/>
          </a:p>
        </p:txBody>
      </p:sp>
      <p:sp>
        <p:nvSpPr>
          <p:cNvPr id="10" name="Shape 8"/>
          <p:cNvSpPr/>
          <p:nvPr/>
        </p:nvSpPr>
        <p:spPr>
          <a:xfrm>
            <a:off x="640080" y="2103120"/>
            <a:ext cx="7863840" cy="685800"/>
          </a:xfrm>
          <a:prstGeom prst="rect">
            <a:avLst>
              <a:gd name="adj" fmla="val 10667"/>
            </a:avLst>
          </a:prstGeom>
          <a:solidFill>
            <a:srgbClr val="1A1F2E"/>
          </a:solidFill>
          <a:ln/>
          <a:effectLst>
            <a:outerShdw sx="100000" sy="100000" kx="0" ky="0" algn="bl" rotWithShape="0" blurRad="101600" dist="38100" dir="8100000">
              <a:srgbClr val="000000">
                <a:alpha val="25000"/>
              </a:srgbClr>
            </a:outerShdw>
          </a:effectLst>
        </p:spPr>
      </p:sp>
      <p:sp>
        <p:nvSpPr>
          <p:cNvPr id="11" name="Text 9"/>
          <p:cNvSpPr/>
          <p:nvPr/>
        </p:nvSpPr>
        <p:spPr>
          <a:xfrm>
            <a:off x="1005840" y="2148840"/>
            <a:ext cx="2286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企业版订阅</a:t>
            </a:r>
            <a:endParaRPr lang="en-US" sz="1500" dirty="0"/>
          </a:p>
        </p:txBody>
      </p:sp>
      <p:sp>
        <p:nvSpPr>
          <p:cNvPr id="12" name="Text 10"/>
          <p:cNvSpPr/>
          <p:nvPr/>
        </p:nvSpPr>
        <p:spPr>
          <a:xfrm>
            <a:off x="1005840" y="2377440"/>
            <a:ext cx="22860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7A829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$199-999/月</a:t>
            </a:r>
            <a:endParaRPr lang="en-US" sz="1200" dirty="0"/>
          </a:p>
        </p:txBody>
      </p:sp>
      <p:sp>
        <p:nvSpPr>
          <p:cNvPr id="13" name="Text 11"/>
          <p:cNvSpPr/>
          <p:nvPr/>
        </p:nvSpPr>
        <p:spPr>
          <a:xfrm>
            <a:off x="3474720" y="2194560"/>
            <a:ext cx="27432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C8CDD6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高级功能：多实体、API 接入、专属支持</a:t>
            </a:r>
            <a:endParaRPr lang="en-US" sz="1300" dirty="0"/>
          </a:p>
        </p:txBody>
      </p:sp>
      <p:sp>
        <p:nvSpPr>
          <p:cNvPr id="14" name="Text 12"/>
          <p:cNvSpPr/>
          <p:nvPr/>
        </p:nvSpPr>
        <p:spPr>
          <a:xfrm>
            <a:off x="6217920" y="2194560"/>
            <a:ext cx="21031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i="1" dirty="0">
                <a:solidFill>
                  <a:srgbClr val="7A8294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SaaS 式经常性收入</a:t>
            </a:r>
            <a:endParaRPr lang="en-US" sz="1100" dirty="0"/>
          </a:p>
        </p:txBody>
      </p:sp>
      <p:sp>
        <p:nvSpPr>
          <p:cNvPr id="15" name="Shape 13"/>
          <p:cNvSpPr/>
          <p:nvPr/>
        </p:nvSpPr>
        <p:spPr>
          <a:xfrm>
            <a:off x="640080" y="2926080"/>
            <a:ext cx="7863840" cy="685800"/>
          </a:xfrm>
          <a:prstGeom prst="rect">
            <a:avLst>
              <a:gd name="adj" fmla="val 10667"/>
            </a:avLst>
          </a:prstGeom>
          <a:solidFill>
            <a:srgbClr val="1A1F2E"/>
          </a:solidFill>
          <a:ln/>
          <a:effectLst>
            <a:outerShdw sx="100000" sy="100000" kx="0" ky="0" algn="bl" rotWithShape="0" blurRad="101600" dist="38100" dir="8100000">
              <a:srgbClr val="000000">
                <a:alpha val="25000"/>
              </a:srgbClr>
            </a:outerShdw>
          </a:effectLst>
        </p:spPr>
      </p:sp>
      <p:sp>
        <p:nvSpPr>
          <p:cNvPr id="16" name="Text 14"/>
          <p:cNvSpPr/>
          <p:nvPr/>
        </p:nvSpPr>
        <p:spPr>
          <a:xfrm>
            <a:off x="1005840" y="2971800"/>
            <a:ext cx="2286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超额收益分成</a:t>
            </a:r>
            <a:endParaRPr lang="en-US" sz="1500" dirty="0"/>
          </a:p>
        </p:txBody>
      </p:sp>
      <p:sp>
        <p:nvSpPr>
          <p:cNvPr id="17" name="Text 15"/>
          <p:cNvSpPr/>
          <p:nvPr/>
        </p:nvSpPr>
        <p:spPr>
          <a:xfrm>
            <a:off x="1005840" y="3200400"/>
            <a:ext cx="22860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7A829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10%</a:t>
            </a:r>
            <a:endParaRPr lang="en-US" sz="1200" dirty="0"/>
          </a:p>
        </p:txBody>
      </p:sp>
      <p:sp>
        <p:nvSpPr>
          <p:cNvPr id="18" name="Text 16"/>
          <p:cNvSpPr/>
          <p:nvPr/>
        </p:nvSpPr>
        <p:spPr>
          <a:xfrm>
            <a:off x="3474720" y="3017520"/>
            <a:ext cx="27432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C8CDD6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超过基准收益率部分的 10%</a:t>
            </a:r>
            <a:endParaRPr lang="en-US" sz="1300" dirty="0"/>
          </a:p>
        </p:txBody>
      </p:sp>
      <p:sp>
        <p:nvSpPr>
          <p:cNvPr id="19" name="Text 17"/>
          <p:cNvSpPr/>
          <p:nvPr/>
        </p:nvSpPr>
        <p:spPr>
          <a:xfrm>
            <a:off x="6217920" y="3017520"/>
            <a:ext cx="21031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i="1" dirty="0">
                <a:solidFill>
                  <a:srgbClr val="7A8294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与客户利益对齐</a:t>
            </a:r>
            <a:endParaRPr lang="en-US" sz="1100" dirty="0"/>
          </a:p>
        </p:txBody>
      </p:sp>
      <p:sp>
        <p:nvSpPr>
          <p:cNvPr id="20" name="Shape 18"/>
          <p:cNvSpPr/>
          <p:nvPr/>
        </p:nvSpPr>
        <p:spPr>
          <a:xfrm>
            <a:off x="640080" y="3749040"/>
            <a:ext cx="7863840" cy="685800"/>
          </a:xfrm>
          <a:prstGeom prst="rect">
            <a:avLst>
              <a:gd name="adj" fmla="val 10667"/>
            </a:avLst>
          </a:prstGeom>
          <a:solidFill>
            <a:srgbClr val="1A1F2E"/>
          </a:solidFill>
          <a:ln/>
          <a:effectLst>
            <a:outerShdw sx="100000" sy="100000" kx="0" ky="0" algn="bl" rotWithShape="0" blurRad="101600" dist="38100" dir="8100000">
              <a:srgbClr val="000000">
                <a:alpha val="25000"/>
              </a:srgbClr>
            </a:outerShdw>
          </a:effectLst>
        </p:spPr>
      </p:sp>
      <p:sp>
        <p:nvSpPr>
          <p:cNvPr id="21" name="Text 19"/>
          <p:cNvSpPr/>
          <p:nvPr/>
        </p:nvSpPr>
        <p:spPr>
          <a:xfrm>
            <a:off x="1005840" y="3794760"/>
            <a:ext cx="2286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短期赎回费</a:t>
            </a:r>
            <a:endParaRPr lang="en-US" sz="1500" dirty="0"/>
          </a:p>
        </p:txBody>
      </p:sp>
      <p:sp>
        <p:nvSpPr>
          <p:cNvPr id="22" name="Text 20"/>
          <p:cNvSpPr/>
          <p:nvPr/>
        </p:nvSpPr>
        <p:spPr>
          <a:xfrm>
            <a:off x="1005840" y="4023360"/>
            <a:ext cx="22860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7A829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0.1%</a:t>
            </a:r>
            <a:endParaRPr lang="en-US" sz="1200" dirty="0"/>
          </a:p>
        </p:txBody>
      </p:sp>
      <p:sp>
        <p:nvSpPr>
          <p:cNvPr id="23" name="Text 21"/>
          <p:cNvSpPr/>
          <p:nvPr/>
        </p:nvSpPr>
        <p:spPr>
          <a:xfrm>
            <a:off x="3474720" y="3840480"/>
            <a:ext cx="27432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C8CDD6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30 天内赎回收取</a:t>
            </a:r>
            <a:endParaRPr lang="en-US" sz="1300" dirty="0"/>
          </a:p>
        </p:txBody>
      </p:sp>
      <p:sp>
        <p:nvSpPr>
          <p:cNvPr id="24" name="Text 22"/>
          <p:cNvSpPr/>
          <p:nvPr/>
        </p:nvSpPr>
        <p:spPr>
          <a:xfrm>
            <a:off x="6217920" y="3840480"/>
            <a:ext cx="21031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i="1" dirty="0">
                <a:solidFill>
                  <a:srgbClr val="7A8294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鼓励资金稳定留存</a:t>
            </a:r>
            <a:endParaRPr lang="en-US" sz="1100" dirty="0"/>
          </a:p>
        </p:txBody>
      </p:sp>
      <p:sp>
        <p:nvSpPr>
          <p:cNvPr id="25" name="Text 23"/>
          <p:cNvSpPr/>
          <p:nvPr/>
        </p:nvSpPr>
        <p:spPr>
          <a:xfrm>
            <a:off x="640080" y="4617720"/>
            <a:ext cx="78638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i="1" dirty="0">
                <a:solidFill>
                  <a:srgbClr val="7A8294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单位经济模型：获客成本 ~$2,000（直销） · 客户生命周期价值 ~$30,000（5 年） · LTV/CAC = 15x</a:t>
            </a:r>
            <a:endParaRPr lang="en-US" sz="11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0A0E1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320040"/>
            <a:ext cx="78638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市场进入策略</a:t>
            </a:r>
            <a:endParaRPr lang="en-US" sz="3000" dirty="0"/>
          </a:p>
        </p:txBody>
      </p:sp>
      <p:sp>
        <p:nvSpPr>
          <p:cNvPr id="3" name="Shape 1"/>
          <p:cNvSpPr/>
          <p:nvPr/>
        </p:nvSpPr>
        <p:spPr>
          <a:xfrm>
            <a:off x="640080" y="850392"/>
            <a:ext cx="731520" cy="36576"/>
          </a:xfrm>
          <a:prstGeom prst="rect">
            <a:avLst/>
          </a:prstGeom>
          <a:solidFill>
            <a:srgbClr val="00D4AA"/>
          </a:solidFill>
          <a:ln/>
        </p:spPr>
      </p:sp>
      <p:sp>
        <p:nvSpPr>
          <p:cNvPr id="4" name="Shape 2"/>
          <p:cNvSpPr/>
          <p:nvPr/>
        </p:nvSpPr>
        <p:spPr>
          <a:xfrm>
            <a:off x="640080" y="1280160"/>
            <a:ext cx="7863840" cy="868680"/>
          </a:xfrm>
          <a:prstGeom prst="rect">
            <a:avLst>
              <a:gd name="adj" fmla="val 8421"/>
            </a:avLst>
          </a:prstGeom>
          <a:solidFill>
            <a:srgbClr val="1A1F2E"/>
          </a:solidFill>
          <a:ln/>
          <a:effectLst>
            <a:outerShdw sx="100000" sy="100000" kx="0" ky="0" algn="bl" rotWithShape="0" blurRad="101600" dist="38100" dir="8100000">
              <a:srgbClr val="000000">
                <a:alpha val="25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640080" y="1280160"/>
            <a:ext cx="54864" cy="868680"/>
          </a:xfrm>
          <a:prstGeom prst="rect">
            <a:avLst/>
          </a:prstGeom>
          <a:solidFill>
            <a:srgbClr val="00D4AA"/>
          </a:solidFill>
          <a:ln/>
        </p:spPr>
      </p:sp>
      <p:sp>
        <p:nvSpPr>
          <p:cNvPr id="6" name="Text 4"/>
          <p:cNvSpPr/>
          <p:nvPr/>
        </p:nvSpPr>
        <p:spPr>
          <a:xfrm>
            <a:off x="1005840" y="1353312"/>
            <a:ext cx="27432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00D4A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第一阶段 · 第 1-6 月</a:t>
            </a:r>
            <a:endParaRPr lang="en-US" sz="1100" dirty="0"/>
          </a:p>
        </p:txBody>
      </p:sp>
      <p:sp>
        <p:nvSpPr>
          <p:cNvPr id="7" name="Text 5"/>
          <p:cNvSpPr/>
          <p:nvPr/>
        </p:nvSpPr>
        <p:spPr>
          <a:xfrm>
            <a:off x="1005840" y="1554480"/>
            <a:ext cx="32004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加密近邻优先</a:t>
            </a:r>
            <a:endParaRPr lang="en-US" sz="1700" dirty="0"/>
          </a:p>
        </p:txBody>
      </p:sp>
      <p:sp>
        <p:nvSpPr>
          <p:cNvPr id="8" name="Text 6"/>
          <p:cNvSpPr/>
          <p:nvPr/>
        </p:nvSpPr>
        <p:spPr>
          <a:xfrm>
            <a:off x="1005840" y="1783080"/>
            <a:ext cx="713232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C8CDD6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加密基金、DAO 金库、Web3 初创企业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C8CDD6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—— 门槛最低，采纳速度最快</a:t>
            </a:r>
            <a:endParaRPr lang="en-US" sz="1200" dirty="0"/>
          </a:p>
        </p:txBody>
      </p:sp>
      <p:sp>
        <p:nvSpPr>
          <p:cNvPr id="9" name="Shape 7"/>
          <p:cNvSpPr/>
          <p:nvPr/>
        </p:nvSpPr>
        <p:spPr>
          <a:xfrm>
            <a:off x="640080" y="2331720"/>
            <a:ext cx="7863840" cy="868680"/>
          </a:xfrm>
          <a:prstGeom prst="rect">
            <a:avLst>
              <a:gd name="adj" fmla="val 8421"/>
            </a:avLst>
          </a:prstGeom>
          <a:solidFill>
            <a:srgbClr val="1A1F2E"/>
          </a:solidFill>
          <a:ln/>
          <a:effectLst>
            <a:outerShdw sx="100000" sy="100000" kx="0" ky="0" algn="bl" rotWithShape="0" blurRad="101600" dist="38100" dir="8100000">
              <a:srgbClr val="000000">
                <a:alpha val="25000"/>
              </a:srgbClr>
            </a:outerShdw>
          </a:effectLst>
        </p:spPr>
      </p:sp>
      <p:sp>
        <p:nvSpPr>
          <p:cNvPr id="10" name="Shape 8"/>
          <p:cNvSpPr/>
          <p:nvPr/>
        </p:nvSpPr>
        <p:spPr>
          <a:xfrm>
            <a:off x="640080" y="2331720"/>
            <a:ext cx="54864" cy="868680"/>
          </a:xfrm>
          <a:prstGeom prst="rect">
            <a:avLst/>
          </a:prstGeom>
          <a:solidFill>
            <a:srgbClr val="4DA6FF"/>
          </a:solidFill>
          <a:ln/>
        </p:spPr>
      </p:sp>
      <p:sp>
        <p:nvSpPr>
          <p:cNvPr id="11" name="Text 9"/>
          <p:cNvSpPr/>
          <p:nvPr/>
        </p:nvSpPr>
        <p:spPr>
          <a:xfrm>
            <a:off x="1005840" y="2404872"/>
            <a:ext cx="27432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4DA6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第二阶段 · 第 7-12 月</a:t>
            </a:r>
            <a:endParaRPr lang="en-US" sz="1100" dirty="0"/>
          </a:p>
        </p:txBody>
      </p:sp>
      <p:sp>
        <p:nvSpPr>
          <p:cNvPr id="12" name="Text 10"/>
          <p:cNvSpPr/>
          <p:nvPr/>
        </p:nvSpPr>
        <p:spPr>
          <a:xfrm>
            <a:off x="1005840" y="2606040"/>
            <a:ext cx="32004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行业垂直突破</a:t>
            </a:r>
            <a:endParaRPr lang="en-US" sz="1700" dirty="0"/>
          </a:p>
        </p:txBody>
      </p:sp>
      <p:sp>
        <p:nvSpPr>
          <p:cNvPr id="13" name="Text 11"/>
          <p:cNvSpPr/>
          <p:nvPr/>
        </p:nvSpPr>
        <p:spPr>
          <a:xfrm>
            <a:off x="1005840" y="2834640"/>
            <a:ext cx="713232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C8CDD6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跨境电商、远程优先公司、自由职业平台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C8CDD6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数字服务出口商</a:t>
            </a:r>
            <a:endParaRPr lang="en-US" sz="1200" dirty="0"/>
          </a:p>
        </p:txBody>
      </p:sp>
      <p:sp>
        <p:nvSpPr>
          <p:cNvPr id="14" name="Shape 12"/>
          <p:cNvSpPr/>
          <p:nvPr/>
        </p:nvSpPr>
        <p:spPr>
          <a:xfrm>
            <a:off x="640080" y="3383280"/>
            <a:ext cx="7863840" cy="868680"/>
          </a:xfrm>
          <a:prstGeom prst="rect">
            <a:avLst>
              <a:gd name="adj" fmla="val 8421"/>
            </a:avLst>
          </a:prstGeom>
          <a:solidFill>
            <a:srgbClr val="1A1F2E"/>
          </a:solidFill>
          <a:ln/>
          <a:effectLst>
            <a:outerShdw sx="100000" sy="100000" kx="0" ky="0" algn="bl" rotWithShape="0" blurRad="101600" dist="38100" dir="8100000">
              <a:srgbClr val="000000">
                <a:alpha val="25000"/>
              </a:srgbClr>
            </a:outerShdw>
          </a:effectLst>
        </p:spPr>
      </p:sp>
      <p:sp>
        <p:nvSpPr>
          <p:cNvPr id="15" name="Shape 13"/>
          <p:cNvSpPr/>
          <p:nvPr/>
        </p:nvSpPr>
        <p:spPr>
          <a:xfrm>
            <a:off x="640080" y="3383280"/>
            <a:ext cx="54864" cy="868680"/>
          </a:xfrm>
          <a:prstGeom prst="rect">
            <a:avLst/>
          </a:prstGeom>
          <a:solidFill>
            <a:srgbClr val="F0A050"/>
          </a:solidFill>
          <a:ln/>
        </p:spPr>
      </p:sp>
      <p:sp>
        <p:nvSpPr>
          <p:cNvPr id="16" name="Text 14"/>
          <p:cNvSpPr/>
          <p:nvPr/>
        </p:nvSpPr>
        <p:spPr>
          <a:xfrm>
            <a:off x="1005840" y="3456432"/>
            <a:ext cx="27432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F0A05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第三阶段 · 第 13-24 月</a:t>
            </a:r>
            <a:endParaRPr lang="en-US" sz="1100" dirty="0"/>
          </a:p>
        </p:txBody>
      </p:sp>
      <p:sp>
        <p:nvSpPr>
          <p:cNvPr id="17" name="Text 15"/>
          <p:cNvSpPr/>
          <p:nvPr/>
        </p:nvSpPr>
        <p:spPr>
          <a:xfrm>
            <a:off x="1005840" y="3657600"/>
            <a:ext cx="32004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主流中小企业</a:t>
            </a:r>
            <a:endParaRPr lang="en-US" sz="1700" dirty="0"/>
          </a:p>
        </p:txBody>
      </p:sp>
      <p:sp>
        <p:nvSpPr>
          <p:cNvPr id="18" name="Text 16"/>
          <p:cNvSpPr/>
          <p:nvPr/>
        </p:nvSpPr>
        <p:spPr>
          <a:xfrm>
            <a:off x="1005840" y="3886200"/>
            <a:ext cx="713232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C8CDD6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直销团队 + 会计师事务所合作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C8CDD6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ERP 集成（用友、金蝶、SAP）</a:t>
            </a:r>
            <a:endParaRPr lang="en-US" sz="1200" dirty="0"/>
          </a:p>
        </p:txBody>
      </p:sp>
      <p:sp>
        <p:nvSpPr>
          <p:cNvPr id="19" name="Text 17"/>
          <p:cNvSpPr/>
          <p:nvPr/>
        </p:nvSpPr>
        <p:spPr>
          <a:xfrm>
            <a:off x="640080" y="4526280"/>
            <a:ext cx="78638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i="1" dirty="0">
                <a:solidFill>
                  <a:srgbClr val="7A8294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增长飞轮：更多 AUM → 更优收益 → 更多客户 → 更大 AUM</a:t>
            </a:r>
            <a:endParaRPr lang="en-US" sz="12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0A0E1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320040"/>
            <a:ext cx="78638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构建护城河</a:t>
            </a:r>
            <a:endParaRPr lang="en-US" sz="3000" dirty="0"/>
          </a:p>
        </p:txBody>
      </p:sp>
      <p:sp>
        <p:nvSpPr>
          <p:cNvPr id="3" name="Shape 1"/>
          <p:cNvSpPr/>
          <p:nvPr/>
        </p:nvSpPr>
        <p:spPr>
          <a:xfrm>
            <a:off x="640080" y="850392"/>
            <a:ext cx="731520" cy="36576"/>
          </a:xfrm>
          <a:prstGeom prst="rect">
            <a:avLst/>
          </a:prstGeom>
          <a:solidFill>
            <a:srgbClr val="00D4AA"/>
          </a:solidFill>
          <a:ln/>
        </p:spPr>
      </p:sp>
      <p:sp>
        <p:nvSpPr>
          <p:cNvPr id="4" name="Shape 2"/>
          <p:cNvSpPr/>
          <p:nvPr/>
        </p:nvSpPr>
        <p:spPr>
          <a:xfrm>
            <a:off x="640080" y="1280160"/>
            <a:ext cx="3840480" cy="1508760"/>
          </a:xfrm>
          <a:prstGeom prst="rect">
            <a:avLst>
              <a:gd name="adj" fmla="val 4848"/>
            </a:avLst>
          </a:prstGeom>
          <a:solidFill>
            <a:srgbClr val="1A1F2E"/>
          </a:solidFill>
          <a:ln/>
          <a:effectLst>
            <a:outerShdw sx="100000" sy="100000" kx="0" ky="0" algn="bl" rotWithShape="0" blurRad="101600" dist="38100" dir="8100000">
              <a:srgbClr val="000000">
                <a:alpha val="25000"/>
              </a:srgbClr>
            </a:outerShdw>
          </a:effectLst>
        </p:spPr>
      </p:sp>
      <p:sp>
        <p:nvSpPr>
          <p:cNvPr id="5" name="Text 3"/>
          <p:cNvSpPr/>
          <p:nvPr/>
        </p:nvSpPr>
        <p:spPr>
          <a:xfrm>
            <a:off x="822960" y="1463040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800" dirty="0">
                <a:solidFill>
                  <a:srgbClr val="000000"/>
                </a:solidFill>
              </a:rPr>
              <a:t>🏛</a:t>
            </a:r>
            <a:endParaRPr lang="en-US" sz="2800" dirty="0"/>
          </a:p>
        </p:txBody>
      </p:sp>
      <p:sp>
        <p:nvSpPr>
          <p:cNvPr id="6" name="Text 4"/>
          <p:cNvSpPr/>
          <p:nvPr/>
        </p:nvSpPr>
        <p:spPr>
          <a:xfrm>
            <a:off x="1463040" y="1463040"/>
            <a:ext cx="2743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监管壁垒</a:t>
            </a:r>
            <a:endParaRPr lang="en-US" sz="1700" dirty="0"/>
          </a:p>
        </p:txBody>
      </p:sp>
      <p:sp>
        <p:nvSpPr>
          <p:cNvPr id="7" name="Text 5"/>
          <p:cNvSpPr/>
          <p:nvPr/>
        </p:nvSpPr>
        <p:spPr>
          <a:xfrm>
            <a:off x="1463040" y="1828800"/>
            <a:ext cx="27432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7A8294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MSB 牌照 + KYB 基础设施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7A8294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每个司法管辖区需 12+ 个月复制</a:t>
            </a:r>
            <a:endParaRPr lang="en-US" sz="1200" dirty="0"/>
          </a:p>
        </p:txBody>
      </p:sp>
      <p:sp>
        <p:nvSpPr>
          <p:cNvPr id="8" name="Shape 6"/>
          <p:cNvSpPr/>
          <p:nvPr/>
        </p:nvSpPr>
        <p:spPr>
          <a:xfrm>
            <a:off x="4754880" y="1280160"/>
            <a:ext cx="3840480" cy="1508760"/>
          </a:xfrm>
          <a:prstGeom prst="rect">
            <a:avLst>
              <a:gd name="adj" fmla="val 4848"/>
            </a:avLst>
          </a:prstGeom>
          <a:solidFill>
            <a:srgbClr val="1A1F2E"/>
          </a:solidFill>
          <a:ln/>
          <a:effectLst>
            <a:outerShdw sx="100000" sy="100000" kx="0" ky="0" algn="bl" rotWithShape="0" blurRad="101600" dist="38100" dir="8100000">
              <a:srgbClr val="000000">
                <a:alpha val="25000"/>
              </a:srgbClr>
            </a:outerShdw>
          </a:effectLst>
        </p:spPr>
      </p:sp>
      <p:sp>
        <p:nvSpPr>
          <p:cNvPr id="9" name="Text 7"/>
          <p:cNvSpPr/>
          <p:nvPr/>
        </p:nvSpPr>
        <p:spPr>
          <a:xfrm>
            <a:off x="4937760" y="1463040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800" dirty="0">
                <a:solidFill>
                  <a:srgbClr val="000000"/>
                </a:solidFill>
              </a:rPr>
              <a:t>🔗</a:t>
            </a:r>
            <a:endParaRPr lang="en-US" sz="2800" dirty="0"/>
          </a:p>
        </p:txBody>
      </p:sp>
      <p:sp>
        <p:nvSpPr>
          <p:cNvPr id="10" name="Text 8"/>
          <p:cNvSpPr/>
          <p:nvPr/>
        </p:nvSpPr>
        <p:spPr>
          <a:xfrm>
            <a:off x="5577840" y="1463040"/>
            <a:ext cx="2743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集成壁垒</a:t>
            </a:r>
            <a:endParaRPr lang="en-US" sz="1700" dirty="0"/>
          </a:p>
        </p:txBody>
      </p:sp>
      <p:sp>
        <p:nvSpPr>
          <p:cNvPr id="11" name="Text 9"/>
          <p:cNvSpPr/>
          <p:nvPr/>
        </p:nvSpPr>
        <p:spPr>
          <a:xfrm>
            <a:off x="5577840" y="1828800"/>
            <a:ext cx="27432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7A8294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深度优化路由直连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7A8294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BUIDL、Aave、Morpho、Ondo、Ethena</a:t>
            </a:r>
            <a:endParaRPr lang="en-US" sz="1200" dirty="0"/>
          </a:p>
        </p:txBody>
      </p:sp>
      <p:sp>
        <p:nvSpPr>
          <p:cNvPr id="12" name="Shape 10"/>
          <p:cNvSpPr/>
          <p:nvPr/>
        </p:nvSpPr>
        <p:spPr>
          <a:xfrm>
            <a:off x="640080" y="2971800"/>
            <a:ext cx="3840480" cy="1508760"/>
          </a:xfrm>
          <a:prstGeom prst="rect">
            <a:avLst>
              <a:gd name="adj" fmla="val 4848"/>
            </a:avLst>
          </a:prstGeom>
          <a:solidFill>
            <a:srgbClr val="1A1F2E"/>
          </a:solidFill>
          <a:ln/>
          <a:effectLst>
            <a:outerShdw sx="100000" sy="100000" kx="0" ky="0" algn="bl" rotWithShape="0" blurRad="101600" dist="38100" dir="8100000">
              <a:srgbClr val="000000">
                <a:alpha val="25000"/>
              </a:srgbClr>
            </a:outerShdw>
          </a:effectLst>
        </p:spPr>
      </p:sp>
      <p:sp>
        <p:nvSpPr>
          <p:cNvPr id="13" name="Text 11"/>
          <p:cNvSpPr/>
          <p:nvPr/>
        </p:nvSpPr>
        <p:spPr>
          <a:xfrm>
            <a:off x="822960" y="3154680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800" dirty="0">
                <a:solidFill>
                  <a:srgbClr val="000000"/>
                </a:solidFill>
              </a:rPr>
              <a:t>🛡</a:t>
            </a:r>
            <a:endParaRPr lang="en-US" sz="2800" dirty="0"/>
          </a:p>
        </p:txBody>
      </p:sp>
      <p:sp>
        <p:nvSpPr>
          <p:cNvPr id="14" name="Text 12"/>
          <p:cNvSpPr/>
          <p:nvPr/>
        </p:nvSpPr>
        <p:spPr>
          <a:xfrm>
            <a:off x="1463040" y="3154680"/>
            <a:ext cx="2743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信任壁垒</a:t>
            </a:r>
            <a:endParaRPr lang="en-US" sz="1700" dirty="0"/>
          </a:p>
        </p:txBody>
      </p:sp>
      <p:sp>
        <p:nvSpPr>
          <p:cNvPr id="15" name="Text 13"/>
          <p:cNvSpPr/>
          <p:nvPr/>
        </p:nvSpPr>
        <p:spPr>
          <a:xfrm>
            <a:off x="1463040" y="3520440"/>
            <a:ext cx="27432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7A8294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SOC 2、ISO 27001 认证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7A8294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Nexus Mutual 保险保障</a:t>
            </a:r>
            <a:endParaRPr lang="en-US" sz="1200" dirty="0"/>
          </a:p>
        </p:txBody>
      </p:sp>
      <p:sp>
        <p:nvSpPr>
          <p:cNvPr id="16" name="Shape 14"/>
          <p:cNvSpPr/>
          <p:nvPr/>
        </p:nvSpPr>
        <p:spPr>
          <a:xfrm>
            <a:off x="4754880" y="2971800"/>
            <a:ext cx="3840480" cy="1508760"/>
          </a:xfrm>
          <a:prstGeom prst="rect">
            <a:avLst>
              <a:gd name="adj" fmla="val 4848"/>
            </a:avLst>
          </a:prstGeom>
          <a:solidFill>
            <a:srgbClr val="1A1F2E"/>
          </a:solidFill>
          <a:ln/>
          <a:effectLst>
            <a:outerShdw sx="100000" sy="100000" kx="0" ky="0" algn="bl" rotWithShape="0" blurRad="101600" dist="38100" dir="8100000">
              <a:srgbClr val="000000">
                <a:alpha val="25000"/>
              </a:srgbClr>
            </a:outerShdw>
          </a:effectLst>
        </p:spPr>
      </p:sp>
      <p:sp>
        <p:nvSpPr>
          <p:cNvPr id="17" name="Text 15"/>
          <p:cNvSpPr/>
          <p:nvPr/>
        </p:nvSpPr>
        <p:spPr>
          <a:xfrm>
            <a:off x="4937760" y="3154680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800" dirty="0">
                <a:solidFill>
                  <a:srgbClr val="000000"/>
                </a:solidFill>
              </a:rPr>
              <a:t>📊</a:t>
            </a:r>
            <a:endParaRPr lang="en-US" sz="2800" dirty="0"/>
          </a:p>
        </p:txBody>
      </p:sp>
      <p:sp>
        <p:nvSpPr>
          <p:cNvPr id="18" name="Text 16"/>
          <p:cNvSpPr/>
          <p:nvPr/>
        </p:nvSpPr>
        <p:spPr>
          <a:xfrm>
            <a:off x="5577840" y="3154680"/>
            <a:ext cx="2743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数据壁垒</a:t>
            </a:r>
            <a:endParaRPr lang="en-US" sz="1700" dirty="0"/>
          </a:p>
        </p:txBody>
      </p:sp>
      <p:sp>
        <p:nvSpPr>
          <p:cNvPr id="19" name="Text 17"/>
          <p:cNvSpPr/>
          <p:nvPr/>
        </p:nvSpPr>
        <p:spPr>
          <a:xfrm>
            <a:off x="5577840" y="3520440"/>
            <a:ext cx="27432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7A8294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自研风险评分与收益优化算法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7A8294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规模越大、效果越好</a:t>
            </a:r>
            <a:endParaRPr lang="en-US" sz="1200" dirty="0"/>
          </a:p>
        </p:txBody>
      </p:sp>
      <p:sp>
        <p:nvSpPr>
          <p:cNvPr id="20" name="Text 18"/>
          <p:cNvSpPr/>
          <p:nvPr/>
        </p:nvSpPr>
        <p:spPr>
          <a:xfrm>
            <a:off x="640080" y="4617720"/>
            <a:ext cx="78638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i="1" dirty="0">
                <a:solidFill>
                  <a:srgbClr val="7A8294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转换成本：一旦嵌入企业财资管理流程，流失率趋近于零。</a:t>
            </a:r>
            <a:endParaRPr lang="en-US" sz="120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0A0E1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320040"/>
            <a:ext cx="78638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12 个月路线图</a:t>
            </a:r>
            <a:endParaRPr lang="en-US" sz="3000" dirty="0"/>
          </a:p>
        </p:txBody>
      </p:sp>
      <p:sp>
        <p:nvSpPr>
          <p:cNvPr id="3" name="Shape 1"/>
          <p:cNvSpPr/>
          <p:nvPr/>
        </p:nvSpPr>
        <p:spPr>
          <a:xfrm>
            <a:off x="640080" y="850392"/>
            <a:ext cx="731520" cy="36576"/>
          </a:xfrm>
          <a:prstGeom prst="rect">
            <a:avLst/>
          </a:prstGeom>
          <a:solidFill>
            <a:srgbClr val="00D4AA"/>
          </a:solidFill>
          <a:ln/>
        </p:spPr>
      </p:sp>
      <p:sp>
        <p:nvSpPr>
          <p:cNvPr id="4" name="Shape 2"/>
          <p:cNvSpPr/>
          <p:nvPr/>
        </p:nvSpPr>
        <p:spPr>
          <a:xfrm>
            <a:off x="640080" y="3063240"/>
            <a:ext cx="7863840" cy="0"/>
          </a:xfrm>
          <a:prstGeom prst="line">
            <a:avLst/>
          </a:prstGeom>
          <a:noFill/>
          <a:ln w="25400">
            <a:solidFill>
              <a:srgbClr val="00D4AA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960120" y="2990088"/>
            <a:ext cx="146304" cy="146304"/>
          </a:xfrm>
          <a:prstGeom prst="oval">
            <a:avLst/>
          </a:prstGeom>
          <a:solidFill>
            <a:srgbClr val="00D4AA"/>
          </a:solidFill>
          <a:ln/>
        </p:spPr>
      </p:sp>
      <p:sp>
        <p:nvSpPr>
          <p:cNvPr id="6" name="Text 4"/>
          <p:cNvSpPr/>
          <p:nvPr/>
        </p:nvSpPr>
        <p:spPr>
          <a:xfrm>
            <a:off x="502920" y="2267712"/>
            <a:ext cx="11887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7A8294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2026 Q1 ✓</a:t>
            </a:r>
            <a:endParaRPr lang="en-US" sz="900" dirty="0"/>
          </a:p>
        </p:txBody>
      </p:sp>
      <p:sp>
        <p:nvSpPr>
          <p:cNvPr id="7" name="Text 5"/>
          <p:cNvSpPr/>
          <p:nvPr/>
        </p:nvSpPr>
        <p:spPr>
          <a:xfrm>
            <a:off x="502920" y="2514600"/>
            <a:ext cx="11887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基础</a:t>
            </a:r>
            <a:endParaRPr lang="en-US" sz="1200" dirty="0"/>
          </a:p>
        </p:txBody>
      </p:sp>
      <p:sp>
        <p:nvSpPr>
          <p:cNvPr id="8" name="Text 6"/>
          <p:cNvSpPr/>
          <p:nvPr/>
        </p:nvSpPr>
        <p:spPr>
          <a:xfrm>
            <a:off x="502920" y="2788920"/>
            <a:ext cx="11887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7A8294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智能合约审计（Spearbit）</a:t>
            </a:r>
            <a:endParaRPr lang="en-US" sz="800" dirty="0"/>
          </a:p>
          <a:p>
            <a:pPr indent="0" marL="0">
              <a:buNone/>
            </a:pPr>
            <a:r>
              <a:rPr lang="en-US" sz="800" dirty="0">
                <a:solidFill>
                  <a:srgbClr val="7A8294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测试网 MVP 部署</a:t>
            </a:r>
            <a:endParaRPr lang="en-US" sz="800" dirty="0"/>
          </a:p>
        </p:txBody>
      </p:sp>
      <p:sp>
        <p:nvSpPr>
          <p:cNvPr id="9" name="Shape 7"/>
          <p:cNvSpPr/>
          <p:nvPr/>
        </p:nvSpPr>
        <p:spPr>
          <a:xfrm>
            <a:off x="2286000" y="2990088"/>
            <a:ext cx="146304" cy="146304"/>
          </a:xfrm>
          <a:prstGeom prst="oval">
            <a:avLst/>
          </a:prstGeom>
          <a:solidFill>
            <a:srgbClr val="00D4AA"/>
          </a:solidFill>
          <a:ln/>
        </p:spPr>
      </p:sp>
      <p:sp>
        <p:nvSpPr>
          <p:cNvPr id="10" name="Text 8"/>
          <p:cNvSpPr/>
          <p:nvPr/>
        </p:nvSpPr>
        <p:spPr>
          <a:xfrm>
            <a:off x="1828800" y="3044952"/>
            <a:ext cx="11887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7A8294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2026 Q2</a:t>
            </a:r>
            <a:endParaRPr lang="en-US" sz="900" dirty="0"/>
          </a:p>
        </p:txBody>
      </p:sp>
      <p:sp>
        <p:nvSpPr>
          <p:cNvPr id="11" name="Text 9"/>
          <p:cNvSpPr/>
          <p:nvPr/>
        </p:nvSpPr>
        <p:spPr>
          <a:xfrm>
            <a:off x="1828800" y="3291840"/>
            <a:ext cx="11887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内测</a:t>
            </a:r>
            <a:endParaRPr lang="en-US" sz="1200" dirty="0"/>
          </a:p>
        </p:txBody>
      </p:sp>
      <p:sp>
        <p:nvSpPr>
          <p:cNvPr id="12" name="Text 10"/>
          <p:cNvSpPr/>
          <p:nvPr/>
        </p:nvSpPr>
        <p:spPr>
          <a:xfrm>
            <a:off x="1828800" y="3566160"/>
            <a:ext cx="11887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7A8294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10 家设计合作伙伴</a:t>
            </a:r>
            <a:endParaRPr lang="en-US" sz="800" dirty="0"/>
          </a:p>
          <a:p>
            <a:pPr indent="0" marL="0">
              <a:buNone/>
            </a:pPr>
            <a:r>
              <a:rPr lang="en-US" sz="800" dirty="0">
                <a:solidFill>
                  <a:srgbClr val="7A8294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MSB 牌照申请提交</a:t>
            </a:r>
            <a:endParaRPr lang="en-US" sz="800" dirty="0"/>
          </a:p>
        </p:txBody>
      </p:sp>
      <p:sp>
        <p:nvSpPr>
          <p:cNvPr id="13" name="Shape 11"/>
          <p:cNvSpPr/>
          <p:nvPr/>
        </p:nvSpPr>
        <p:spPr>
          <a:xfrm>
            <a:off x="3611880" y="2990088"/>
            <a:ext cx="146304" cy="146304"/>
          </a:xfrm>
          <a:prstGeom prst="oval">
            <a:avLst/>
          </a:prstGeom>
          <a:solidFill>
            <a:srgbClr val="00D4AA"/>
          </a:solidFill>
          <a:ln/>
        </p:spPr>
      </p:sp>
      <p:sp>
        <p:nvSpPr>
          <p:cNvPr id="14" name="Text 12"/>
          <p:cNvSpPr/>
          <p:nvPr/>
        </p:nvSpPr>
        <p:spPr>
          <a:xfrm>
            <a:off x="3154680" y="2267712"/>
            <a:ext cx="11887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7A8294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2026 Q3</a:t>
            </a:r>
            <a:endParaRPr lang="en-US" sz="900" dirty="0"/>
          </a:p>
        </p:txBody>
      </p:sp>
      <p:sp>
        <p:nvSpPr>
          <p:cNvPr id="15" name="Text 13"/>
          <p:cNvSpPr/>
          <p:nvPr/>
        </p:nvSpPr>
        <p:spPr>
          <a:xfrm>
            <a:off x="3154680" y="2514600"/>
            <a:ext cx="11887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公测上线</a:t>
            </a:r>
            <a:endParaRPr lang="en-US" sz="1200" dirty="0"/>
          </a:p>
        </p:txBody>
      </p:sp>
      <p:sp>
        <p:nvSpPr>
          <p:cNvPr id="16" name="Text 14"/>
          <p:cNvSpPr/>
          <p:nvPr/>
        </p:nvSpPr>
        <p:spPr>
          <a:xfrm>
            <a:off x="3154680" y="2788920"/>
            <a:ext cx="11887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7A8294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BUIDL + Aave 策略上线</a:t>
            </a:r>
            <a:endParaRPr lang="en-US" sz="800" dirty="0"/>
          </a:p>
          <a:p>
            <a:pPr indent="0" marL="0">
              <a:buNone/>
            </a:pPr>
            <a:r>
              <a:rPr lang="en-US" sz="800" dirty="0">
                <a:solidFill>
                  <a:srgbClr val="7A8294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50+ 企业入驻</a:t>
            </a:r>
            <a:endParaRPr lang="en-US" sz="800" dirty="0"/>
          </a:p>
        </p:txBody>
      </p:sp>
      <p:sp>
        <p:nvSpPr>
          <p:cNvPr id="17" name="Shape 15"/>
          <p:cNvSpPr/>
          <p:nvPr/>
        </p:nvSpPr>
        <p:spPr>
          <a:xfrm>
            <a:off x="4937760" y="2990088"/>
            <a:ext cx="146304" cy="146304"/>
          </a:xfrm>
          <a:prstGeom prst="oval">
            <a:avLst/>
          </a:prstGeom>
          <a:solidFill>
            <a:srgbClr val="00D4AA"/>
          </a:solidFill>
          <a:ln/>
        </p:spPr>
      </p:sp>
      <p:sp>
        <p:nvSpPr>
          <p:cNvPr id="18" name="Text 16"/>
          <p:cNvSpPr/>
          <p:nvPr/>
        </p:nvSpPr>
        <p:spPr>
          <a:xfrm>
            <a:off x="4480560" y="3044952"/>
            <a:ext cx="11887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7A8294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2026 Q4</a:t>
            </a:r>
            <a:endParaRPr lang="en-US" sz="900" dirty="0"/>
          </a:p>
        </p:txBody>
      </p:sp>
      <p:sp>
        <p:nvSpPr>
          <p:cNvPr id="19" name="Text 17"/>
          <p:cNvSpPr/>
          <p:nvPr/>
        </p:nvSpPr>
        <p:spPr>
          <a:xfrm>
            <a:off x="4480560" y="3291840"/>
            <a:ext cx="11887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增长</a:t>
            </a:r>
            <a:endParaRPr lang="en-US" sz="1200" dirty="0"/>
          </a:p>
        </p:txBody>
      </p:sp>
      <p:sp>
        <p:nvSpPr>
          <p:cNvPr id="20" name="Text 18"/>
          <p:cNvSpPr/>
          <p:nvPr/>
        </p:nvSpPr>
        <p:spPr>
          <a:xfrm>
            <a:off x="4480560" y="3566160"/>
            <a:ext cx="11887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7A8294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AUM $1亿 里程碑</a:t>
            </a:r>
            <a:endParaRPr lang="en-US" sz="800" dirty="0"/>
          </a:p>
          <a:p>
            <a:pPr indent="0" marL="0">
              <a:buNone/>
            </a:pPr>
            <a:r>
              <a:rPr lang="en-US" sz="800" dirty="0">
                <a:solidFill>
                  <a:srgbClr val="7A8294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多链扩展：Arbitrum</a:t>
            </a:r>
            <a:endParaRPr lang="en-US" sz="800" dirty="0"/>
          </a:p>
        </p:txBody>
      </p:sp>
      <p:sp>
        <p:nvSpPr>
          <p:cNvPr id="21" name="Shape 19"/>
          <p:cNvSpPr/>
          <p:nvPr/>
        </p:nvSpPr>
        <p:spPr>
          <a:xfrm>
            <a:off x="6263640" y="2990088"/>
            <a:ext cx="146304" cy="146304"/>
          </a:xfrm>
          <a:prstGeom prst="oval">
            <a:avLst/>
          </a:prstGeom>
          <a:solidFill>
            <a:srgbClr val="4DA6FF"/>
          </a:solidFill>
          <a:ln/>
        </p:spPr>
      </p:sp>
      <p:sp>
        <p:nvSpPr>
          <p:cNvPr id="22" name="Text 20"/>
          <p:cNvSpPr/>
          <p:nvPr/>
        </p:nvSpPr>
        <p:spPr>
          <a:xfrm>
            <a:off x="5806440" y="2267712"/>
            <a:ext cx="11887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7A8294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2027 Q1</a:t>
            </a:r>
            <a:endParaRPr lang="en-US" sz="900" dirty="0"/>
          </a:p>
        </p:txBody>
      </p:sp>
      <p:sp>
        <p:nvSpPr>
          <p:cNvPr id="23" name="Text 21"/>
          <p:cNvSpPr/>
          <p:nvPr/>
        </p:nvSpPr>
        <p:spPr>
          <a:xfrm>
            <a:off x="5806440" y="2514600"/>
            <a:ext cx="11887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规模化</a:t>
            </a:r>
            <a:endParaRPr lang="en-US" sz="1200" dirty="0"/>
          </a:p>
        </p:txBody>
      </p:sp>
      <p:sp>
        <p:nvSpPr>
          <p:cNvPr id="24" name="Text 22"/>
          <p:cNvSpPr/>
          <p:nvPr/>
        </p:nvSpPr>
        <p:spPr>
          <a:xfrm>
            <a:off x="5806440" y="2788920"/>
            <a:ext cx="11887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7A8294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AUM $2.5亿</a:t>
            </a:r>
            <a:endParaRPr lang="en-US" sz="800" dirty="0"/>
          </a:p>
          <a:p>
            <a:pPr indent="0" marL="0">
              <a:buNone/>
            </a:pPr>
            <a:r>
              <a:rPr lang="en-US" sz="800" dirty="0">
                <a:solidFill>
                  <a:srgbClr val="7A8294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移动端 + 企业 API</a:t>
            </a:r>
            <a:endParaRPr lang="en-US" sz="800" dirty="0"/>
          </a:p>
        </p:txBody>
      </p:sp>
      <p:sp>
        <p:nvSpPr>
          <p:cNvPr id="25" name="Shape 23"/>
          <p:cNvSpPr/>
          <p:nvPr/>
        </p:nvSpPr>
        <p:spPr>
          <a:xfrm>
            <a:off x="7589520" y="2990088"/>
            <a:ext cx="146304" cy="146304"/>
          </a:xfrm>
          <a:prstGeom prst="oval">
            <a:avLst/>
          </a:prstGeom>
          <a:solidFill>
            <a:srgbClr val="4DA6FF"/>
          </a:solidFill>
          <a:ln/>
        </p:spPr>
      </p:sp>
      <p:sp>
        <p:nvSpPr>
          <p:cNvPr id="26" name="Text 24"/>
          <p:cNvSpPr/>
          <p:nvPr/>
        </p:nvSpPr>
        <p:spPr>
          <a:xfrm>
            <a:off x="7132320" y="3044952"/>
            <a:ext cx="11887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7A8294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2027 Q2</a:t>
            </a:r>
            <a:endParaRPr lang="en-US" sz="900" dirty="0"/>
          </a:p>
        </p:txBody>
      </p:sp>
      <p:sp>
        <p:nvSpPr>
          <p:cNvPr id="27" name="Text 25"/>
          <p:cNvSpPr/>
          <p:nvPr/>
        </p:nvSpPr>
        <p:spPr>
          <a:xfrm>
            <a:off x="7132320" y="3291840"/>
            <a:ext cx="11887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扩张</a:t>
            </a:r>
            <a:endParaRPr lang="en-US" sz="1200" dirty="0"/>
          </a:p>
        </p:txBody>
      </p:sp>
      <p:sp>
        <p:nvSpPr>
          <p:cNvPr id="28" name="Text 26"/>
          <p:cNvSpPr/>
          <p:nvPr/>
        </p:nvSpPr>
        <p:spPr>
          <a:xfrm>
            <a:off x="7132320" y="3566160"/>
            <a:ext cx="11887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7A8294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AUM $5亿</a:t>
            </a:r>
            <a:endParaRPr lang="en-US" sz="800" dirty="0"/>
          </a:p>
          <a:p>
            <a:pPr indent="0" marL="0">
              <a:buNone/>
            </a:pPr>
            <a:r>
              <a:rPr lang="en-US" sz="800" dirty="0">
                <a:solidFill>
                  <a:srgbClr val="7A8294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A 轮融资</a:t>
            </a:r>
            <a:endParaRPr lang="en-US" sz="800" dirty="0"/>
          </a:p>
          <a:p>
            <a:pPr indent="0" marL="0">
              <a:buNone/>
            </a:pPr>
            <a:r>
              <a:rPr lang="en-US" sz="800" dirty="0">
                <a:solidFill>
                  <a:srgbClr val="7A8294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国际市场拓展</a:t>
            </a:r>
            <a:endParaRPr lang="en-US" sz="800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solidFill>
          <a:srgbClr val="0A0E1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320040"/>
            <a:ext cx="78638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财务预测</a:t>
            </a:r>
            <a:endParaRPr lang="en-US" sz="3000" dirty="0"/>
          </a:p>
        </p:txBody>
      </p:sp>
      <p:sp>
        <p:nvSpPr>
          <p:cNvPr id="3" name="Shape 1"/>
          <p:cNvSpPr/>
          <p:nvPr/>
        </p:nvSpPr>
        <p:spPr>
          <a:xfrm>
            <a:off x="640080" y="850392"/>
            <a:ext cx="731520" cy="36576"/>
          </a:xfrm>
          <a:prstGeom prst="rect">
            <a:avLst/>
          </a:prstGeom>
          <a:solidFill>
            <a:srgbClr val="00D4AA"/>
          </a:solidFill>
          <a:ln/>
        </p:spPr>
      </p:sp>
      <p:graphicFrame>
        <p:nvGraphicFramePr>
          <p:cNvPr id="14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640080" y="1371600"/>
          <a:ext cx="7863840" cy="914400"/>
        </p:xfrm>
        <a:graphic>
          <a:graphicData uri="http://schemas.openxmlformats.org/drawingml/2006/table">
            <a:tbl>
              <a:tblPr/>
              <a:tblGrid>
                <a:gridCol w="1463040"/>
                <a:gridCol w="1645920"/>
                <a:gridCol w="1645920"/>
                <a:gridCol w="1645920"/>
                <a:gridCol w="1463040"/>
              </a:tblGrid>
              <a:tr h="50292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400" b="1" dirty="0">
                          <a:solidFill>
                            <a:srgbClr val="00D4AA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年度</a:t>
                      </a:r>
                      <a:endParaRPr lang="en-US" sz="14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2A304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A304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A304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A304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31820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400" b="1" dirty="0">
                          <a:solidFill>
                            <a:srgbClr val="00D4AA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AUM</a:t>
                      </a:r>
                      <a:endParaRPr lang="en-US" sz="14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2A304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A304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A304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A304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31820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400" b="1" dirty="0">
                          <a:solidFill>
                            <a:srgbClr val="00D4AA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收入</a:t>
                      </a:r>
                      <a:endParaRPr lang="en-US" sz="14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2A304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A304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A304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A304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31820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400" b="1" dirty="0">
                          <a:solidFill>
                            <a:srgbClr val="00D4AA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支出</a:t>
                      </a:r>
                      <a:endParaRPr lang="en-US" sz="14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2A304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A304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A304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A304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31820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400" b="1" dirty="0">
                          <a:solidFill>
                            <a:srgbClr val="00D4AA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团队</a:t>
                      </a:r>
                      <a:endParaRPr lang="en-US" sz="14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2A304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A304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A304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A304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31820"/>
                    </a:solidFill>
                  </a:tcPr>
                </a:tc>
              </a:tr>
              <a:tr h="475488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400" dirty="0">
                          <a:solidFill>
                            <a:srgbClr val="C8CDD6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第 1 年</a:t>
                      </a:r>
                      <a:endParaRPr lang="en-US" sz="14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2A304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A304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A304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A304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A1F2E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400" dirty="0">
                          <a:solidFill>
                            <a:srgbClr val="C8CDD6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$5000万</a:t>
                      </a:r>
                      <a:endParaRPr lang="en-US" sz="14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2A304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A304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A304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A304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A1F2E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400" dirty="0">
                          <a:solidFill>
                            <a:srgbClr val="C8CDD6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$25万</a:t>
                      </a:r>
                      <a:endParaRPr lang="en-US" sz="14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2A304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A304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A304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A304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A1F2E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400" dirty="0">
                          <a:solidFill>
                            <a:srgbClr val="FF5C5C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$150万</a:t>
                      </a:r>
                      <a:endParaRPr lang="en-US" sz="14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2A304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A304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A304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A304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A1F2E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400" dirty="0">
                          <a:solidFill>
                            <a:srgbClr val="C8CDD6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12 人</a:t>
                      </a:r>
                      <a:endParaRPr lang="en-US" sz="14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2A304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A304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A304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A304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A1F2E"/>
                    </a:solidFill>
                  </a:tcPr>
                </a:tc>
              </a:tr>
              <a:tr h="475488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400" dirty="0">
                          <a:solidFill>
                            <a:srgbClr val="C8CDD6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第 2 年</a:t>
                      </a:r>
                      <a:endParaRPr lang="en-US" sz="14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2A304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A304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A304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A304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31820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400" dirty="0">
                          <a:solidFill>
                            <a:srgbClr val="C8CDD6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$2.5亿</a:t>
                      </a:r>
                      <a:endParaRPr lang="en-US" sz="14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2A304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A304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A304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A304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31820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400" dirty="0">
                          <a:solidFill>
                            <a:srgbClr val="C8CDD6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$125万</a:t>
                      </a:r>
                      <a:endParaRPr lang="en-US" sz="14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2A304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A304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A304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A304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31820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400" dirty="0">
                          <a:solidFill>
                            <a:srgbClr val="FF5C5C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$250万</a:t>
                      </a:r>
                      <a:endParaRPr lang="en-US" sz="14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2A304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A304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A304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A304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31820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400" dirty="0">
                          <a:solidFill>
                            <a:srgbClr val="C8CDD6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25 人</a:t>
                      </a:r>
                      <a:endParaRPr lang="en-US" sz="14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2A304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A304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A304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A304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31820"/>
                    </a:solidFill>
                  </a:tcPr>
                </a:tc>
              </a:tr>
              <a:tr h="475488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400" dirty="0">
                          <a:solidFill>
                            <a:srgbClr val="C8CDD6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第 3 年</a:t>
                      </a:r>
                      <a:endParaRPr lang="en-US" sz="14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2A304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A304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A304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A304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A1F2E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400" dirty="0">
                          <a:solidFill>
                            <a:srgbClr val="C8CDD6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$5亿</a:t>
                      </a:r>
                      <a:endParaRPr lang="en-US" sz="14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2A304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A304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A304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A304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A1F2E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400" dirty="0">
                          <a:solidFill>
                            <a:srgbClr val="C8CDD6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$350万</a:t>
                      </a:r>
                      <a:endParaRPr lang="en-US" sz="14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2A304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A304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A304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A304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A1F2E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400" dirty="0">
                          <a:solidFill>
                            <a:srgbClr val="FF5C5C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$400万</a:t>
                      </a:r>
                      <a:endParaRPr lang="en-US" sz="14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2A304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A304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A304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A304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A1F2E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400" dirty="0">
                          <a:solidFill>
                            <a:srgbClr val="C8CDD6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40 人</a:t>
                      </a:r>
                      <a:endParaRPr lang="en-US" sz="14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2A304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A304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A304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A304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A1F2E"/>
                    </a:solidFill>
                  </a:tcPr>
                </a:tc>
              </a:tr>
              <a:tr h="475488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400" dirty="0">
                          <a:solidFill>
                            <a:srgbClr val="C8CDD6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第 4 年</a:t>
                      </a:r>
                      <a:endParaRPr lang="en-US" sz="14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2A304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A304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A304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A304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31820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400" dirty="0">
                          <a:solidFill>
                            <a:srgbClr val="C8CDD6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$15亿</a:t>
                      </a:r>
                      <a:endParaRPr lang="en-US" sz="14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2A304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A304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A304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A304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31820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400" dirty="0">
                          <a:solidFill>
                            <a:srgbClr val="00D4AA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$1050万</a:t>
                      </a:r>
                      <a:endParaRPr lang="en-US" sz="14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2A304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A304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A304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A304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31820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400" dirty="0">
                          <a:solidFill>
                            <a:srgbClr val="FF5C5C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$700万</a:t>
                      </a:r>
                      <a:endParaRPr lang="en-US" sz="14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2A304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A304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A304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A304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31820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400" dirty="0">
                          <a:solidFill>
                            <a:srgbClr val="C8CDD6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60 人</a:t>
                      </a:r>
                      <a:endParaRPr lang="en-US" sz="14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2A304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A304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A304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A304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31820"/>
                    </a:solidFill>
                  </a:tcPr>
                </a:tc>
              </a:tr>
              <a:tr h="475488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400" dirty="0">
                          <a:solidFill>
                            <a:srgbClr val="C8CDD6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第 5 年</a:t>
                      </a:r>
                      <a:endParaRPr lang="en-US" sz="14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2A304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A304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A304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A304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A1F2E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400" dirty="0">
                          <a:solidFill>
                            <a:srgbClr val="C8CDD6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$50亿</a:t>
                      </a:r>
                      <a:endParaRPr lang="en-US" sz="14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2A304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A304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A304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A304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A1F2E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400" b="1" dirty="0">
                          <a:solidFill>
                            <a:srgbClr val="00D4AA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$3500万</a:t>
                      </a:r>
                      <a:endParaRPr lang="en-US" sz="14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2A304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A304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A304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A304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A1F2E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400" dirty="0">
                          <a:solidFill>
                            <a:srgbClr val="FF5C5C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$1500万</a:t>
                      </a:r>
                      <a:endParaRPr lang="en-US" sz="14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2A304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A304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A304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A304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A1F2E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400" dirty="0">
                          <a:solidFill>
                            <a:srgbClr val="C8CDD6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85 人</a:t>
                      </a:r>
                      <a:endParaRPr lang="en-US" sz="14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2A304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A304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A304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A304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A1F2E"/>
                    </a:solidFill>
                  </a:tcPr>
                </a:tc>
              </a:tr>
            </a:tbl>
          </a:graphicData>
        </a:graphic>
      </p:graphicFrame>
      <p:sp>
        <p:nvSpPr>
          <p:cNvPr id="5" name="Shape 2"/>
          <p:cNvSpPr/>
          <p:nvPr/>
        </p:nvSpPr>
        <p:spPr>
          <a:xfrm>
            <a:off x="640080" y="4297680"/>
            <a:ext cx="7863840" cy="640080"/>
          </a:xfrm>
          <a:prstGeom prst="rect">
            <a:avLst>
              <a:gd name="adj" fmla="val 11429"/>
            </a:avLst>
          </a:prstGeom>
          <a:solidFill>
            <a:srgbClr val="1A1F2E"/>
          </a:solidFill>
          <a:ln/>
          <a:effectLst>
            <a:outerShdw sx="100000" sy="100000" kx="0" ky="0" algn="bl" rotWithShape="0" blurRad="101600" dist="38100" dir="8100000">
              <a:srgbClr val="000000">
                <a:alpha val="25000"/>
              </a:srgbClr>
            </a:outerShdw>
          </a:effectLst>
        </p:spPr>
      </p:sp>
      <p:sp>
        <p:nvSpPr>
          <p:cNvPr id="6" name="Text 3"/>
          <p:cNvSpPr/>
          <p:nvPr/>
        </p:nvSpPr>
        <p:spPr>
          <a:xfrm>
            <a:off x="822960" y="4315968"/>
            <a:ext cx="749808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0D4A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盈亏平衡：第 30-36 个月   </a:t>
            </a:r>
            <a:pPr indent="0" marL="0">
              <a:buNone/>
            </a:pPr>
            <a:r>
              <a:rPr lang="en-US" sz="1300" dirty="0">
                <a:solidFill>
                  <a:srgbClr val="C8CDD6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|   第 5 年营业利润：$2000万（57% 利润率）   |   收入 CAGR：170%</a:t>
            </a:r>
            <a:endParaRPr lang="en-US" sz="1300" dirty="0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bg>
      <p:bgPr>
        <a:solidFill>
          <a:srgbClr val="0A0E1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131820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9144000" cy="54864"/>
          </a:xfrm>
          <a:prstGeom prst="rect">
            <a:avLst/>
          </a:prstGeom>
          <a:solidFill>
            <a:srgbClr val="00D4AA"/>
          </a:solidFill>
          <a:ln/>
        </p:spPr>
      </p:sp>
      <p:sp>
        <p:nvSpPr>
          <p:cNvPr id="4" name="Text 2"/>
          <p:cNvSpPr/>
          <p:nvPr/>
        </p:nvSpPr>
        <p:spPr>
          <a:xfrm>
            <a:off x="914400" y="548640"/>
            <a:ext cx="73152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40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加入我们</a:t>
            </a:r>
            <a:endParaRPr lang="en-US" sz="4000" dirty="0"/>
          </a:p>
        </p:txBody>
      </p:sp>
      <p:sp>
        <p:nvSpPr>
          <p:cNvPr id="5" name="Shape 3"/>
          <p:cNvSpPr/>
          <p:nvPr/>
        </p:nvSpPr>
        <p:spPr>
          <a:xfrm>
            <a:off x="731520" y="1554480"/>
            <a:ext cx="1828800" cy="1188720"/>
          </a:xfrm>
          <a:prstGeom prst="rect">
            <a:avLst>
              <a:gd name="adj" fmla="val 6154"/>
            </a:avLst>
          </a:prstGeom>
          <a:solidFill>
            <a:srgbClr val="1A1F2E"/>
          </a:solidFill>
          <a:ln/>
          <a:effectLst>
            <a:outerShdw sx="100000" sy="100000" kx="0" ky="0" algn="bl" rotWithShape="0" blurRad="101600" dist="38100" dir="8100000">
              <a:srgbClr val="000000">
                <a:alpha val="25000"/>
              </a:srgbClr>
            </a:outerShdw>
          </a:effectLst>
        </p:spPr>
      </p:sp>
      <p:sp>
        <p:nvSpPr>
          <p:cNvPr id="6" name="Text 4"/>
          <p:cNvSpPr/>
          <p:nvPr/>
        </p:nvSpPr>
        <p:spPr>
          <a:xfrm>
            <a:off x="731520" y="1645920"/>
            <a:ext cx="18288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00D4A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$500万</a:t>
            </a:r>
            <a:endParaRPr lang="en-US" sz="2800" dirty="0"/>
          </a:p>
        </p:txBody>
      </p:sp>
      <p:sp>
        <p:nvSpPr>
          <p:cNvPr id="7" name="Text 5"/>
          <p:cNvSpPr/>
          <p:nvPr/>
        </p:nvSpPr>
        <p:spPr>
          <a:xfrm>
            <a:off x="731520" y="2103120"/>
            <a:ext cx="18288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7A8294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种子轮融资</a:t>
            </a:r>
            <a:endParaRPr lang="en-US" sz="1100" dirty="0"/>
          </a:p>
          <a:p>
            <a:pPr algn="ctr" indent="0" marL="0">
              <a:buNone/>
            </a:pPr>
            <a:r>
              <a:rPr lang="en-US" sz="1100" dirty="0">
                <a:solidFill>
                  <a:srgbClr val="7A8294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（SAFE + 代币权证）</a:t>
            </a:r>
            <a:endParaRPr lang="en-US" sz="1100" dirty="0"/>
          </a:p>
        </p:txBody>
      </p:sp>
      <p:sp>
        <p:nvSpPr>
          <p:cNvPr id="8" name="Shape 6"/>
          <p:cNvSpPr/>
          <p:nvPr/>
        </p:nvSpPr>
        <p:spPr>
          <a:xfrm>
            <a:off x="2834640" y="1554480"/>
            <a:ext cx="1828800" cy="1188720"/>
          </a:xfrm>
          <a:prstGeom prst="rect">
            <a:avLst>
              <a:gd name="adj" fmla="val 6154"/>
            </a:avLst>
          </a:prstGeom>
          <a:solidFill>
            <a:srgbClr val="1A1F2E"/>
          </a:solidFill>
          <a:ln/>
          <a:effectLst>
            <a:outerShdw sx="100000" sy="100000" kx="0" ky="0" algn="bl" rotWithShape="0" blurRad="101600" dist="38100" dir="8100000">
              <a:srgbClr val="000000">
                <a:alpha val="25000"/>
              </a:srgbClr>
            </a:outerShdw>
          </a:effectLst>
        </p:spPr>
      </p:sp>
      <p:sp>
        <p:nvSpPr>
          <p:cNvPr id="9" name="Text 7"/>
          <p:cNvSpPr/>
          <p:nvPr/>
        </p:nvSpPr>
        <p:spPr>
          <a:xfrm>
            <a:off x="2834640" y="1645920"/>
            <a:ext cx="18288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00D4A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40%</a:t>
            </a:r>
            <a:endParaRPr lang="en-US" sz="2800" dirty="0"/>
          </a:p>
        </p:txBody>
      </p:sp>
      <p:sp>
        <p:nvSpPr>
          <p:cNvPr id="10" name="Text 8"/>
          <p:cNvSpPr/>
          <p:nvPr/>
        </p:nvSpPr>
        <p:spPr>
          <a:xfrm>
            <a:off x="2834640" y="2103120"/>
            <a:ext cx="18288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7A8294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产品与</a:t>
            </a:r>
            <a:endParaRPr lang="en-US" sz="1100" dirty="0"/>
          </a:p>
          <a:p>
            <a:pPr algn="ctr" indent="0" marL="0">
              <a:buNone/>
            </a:pPr>
            <a:r>
              <a:rPr lang="en-US" sz="1100" dirty="0">
                <a:solidFill>
                  <a:srgbClr val="7A8294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工程研发</a:t>
            </a:r>
            <a:endParaRPr lang="en-US" sz="1100" dirty="0"/>
          </a:p>
        </p:txBody>
      </p:sp>
      <p:sp>
        <p:nvSpPr>
          <p:cNvPr id="11" name="Shape 9"/>
          <p:cNvSpPr/>
          <p:nvPr/>
        </p:nvSpPr>
        <p:spPr>
          <a:xfrm>
            <a:off x="4937760" y="1554480"/>
            <a:ext cx="1828800" cy="1188720"/>
          </a:xfrm>
          <a:prstGeom prst="rect">
            <a:avLst>
              <a:gd name="adj" fmla="val 6154"/>
            </a:avLst>
          </a:prstGeom>
          <a:solidFill>
            <a:srgbClr val="1A1F2E"/>
          </a:solidFill>
          <a:ln/>
          <a:effectLst>
            <a:outerShdw sx="100000" sy="100000" kx="0" ky="0" algn="bl" rotWithShape="0" blurRad="101600" dist="38100" dir="8100000">
              <a:srgbClr val="000000">
                <a:alpha val="25000"/>
              </a:srgbClr>
            </a:outerShdw>
          </a:effectLst>
        </p:spPr>
      </p:sp>
      <p:sp>
        <p:nvSpPr>
          <p:cNvPr id="12" name="Text 10"/>
          <p:cNvSpPr/>
          <p:nvPr/>
        </p:nvSpPr>
        <p:spPr>
          <a:xfrm>
            <a:off x="4937760" y="1645920"/>
            <a:ext cx="18288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00D4A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25%</a:t>
            </a:r>
            <a:endParaRPr lang="en-US" sz="2800" dirty="0"/>
          </a:p>
        </p:txBody>
      </p:sp>
      <p:sp>
        <p:nvSpPr>
          <p:cNvPr id="13" name="Text 11"/>
          <p:cNvSpPr/>
          <p:nvPr/>
        </p:nvSpPr>
        <p:spPr>
          <a:xfrm>
            <a:off x="4937760" y="2103120"/>
            <a:ext cx="18288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7A8294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合规与</a:t>
            </a:r>
            <a:endParaRPr lang="en-US" sz="1100" dirty="0"/>
          </a:p>
          <a:p>
            <a:pPr algn="ctr" indent="0" marL="0">
              <a:buNone/>
            </a:pPr>
            <a:r>
              <a:rPr lang="en-US" sz="1100" dirty="0">
                <a:solidFill>
                  <a:srgbClr val="7A8294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牌照申请</a:t>
            </a:r>
            <a:endParaRPr lang="en-US" sz="1100" dirty="0"/>
          </a:p>
        </p:txBody>
      </p:sp>
      <p:sp>
        <p:nvSpPr>
          <p:cNvPr id="14" name="Shape 12"/>
          <p:cNvSpPr/>
          <p:nvPr/>
        </p:nvSpPr>
        <p:spPr>
          <a:xfrm>
            <a:off x="7040880" y="1554480"/>
            <a:ext cx="1828800" cy="1188720"/>
          </a:xfrm>
          <a:prstGeom prst="rect">
            <a:avLst>
              <a:gd name="adj" fmla="val 6154"/>
            </a:avLst>
          </a:prstGeom>
          <a:solidFill>
            <a:srgbClr val="1A1F2E"/>
          </a:solidFill>
          <a:ln/>
          <a:effectLst>
            <a:outerShdw sx="100000" sy="100000" kx="0" ky="0" algn="bl" rotWithShape="0" blurRad="101600" dist="38100" dir="8100000">
              <a:srgbClr val="000000">
                <a:alpha val="25000"/>
              </a:srgbClr>
            </a:outerShdw>
          </a:effectLst>
        </p:spPr>
      </p:sp>
      <p:sp>
        <p:nvSpPr>
          <p:cNvPr id="15" name="Text 13"/>
          <p:cNvSpPr/>
          <p:nvPr/>
        </p:nvSpPr>
        <p:spPr>
          <a:xfrm>
            <a:off x="7040880" y="1645920"/>
            <a:ext cx="18288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00D4A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35%</a:t>
            </a:r>
            <a:endParaRPr lang="en-US" sz="2800" dirty="0"/>
          </a:p>
        </p:txBody>
      </p:sp>
      <p:sp>
        <p:nvSpPr>
          <p:cNvPr id="16" name="Text 14"/>
          <p:cNvSpPr/>
          <p:nvPr/>
        </p:nvSpPr>
        <p:spPr>
          <a:xfrm>
            <a:off x="7040880" y="2103120"/>
            <a:ext cx="18288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7A8294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市场进入</a:t>
            </a:r>
            <a:endParaRPr lang="en-US" sz="1100" dirty="0"/>
          </a:p>
          <a:p>
            <a:pPr algn="ctr" indent="0" marL="0">
              <a:buNone/>
            </a:pPr>
            <a:r>
              <a:rPr lang="en-US" sz="1100" dirty="0">
                <a:solidFill>
                  <a:srgbClr val="7A8294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销售与运营</a:t>
            </a:r>
            <a:endParaRPr lang="en-US" sz="1100" dirty="0"/>
          </a:p>
        </p:txBody>
      </p:sp>
      <p:sp>
        <p:nvSpPr>
          <p:cNvPr id="17" name="Text 15"/>
          <p:cNvSpPr/>
          <p:nvPr/>
        </p:nvSpPr>
        <p:spPr>
          <a:xfrm>
            <a:off x="640080" y="3017520"/>
            <a:ext cx="78638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目标投资人</a:t>
            </a:r>
            <a:endParaRPr lang="en-US" sz="1600" dirty="0"/>
          </a:p>
        </p:txBody>
      </p:sp>
      <p:sp>
        <p:nvSpPr>
          <p:cNvPr id="18" name="Shape 16"/>
          <p:cNvSpPr/>
          <p:nvPr/>
        </p:nvSpPr>
        <p:spPr>
          <a:xfrm>
            <a:off x="640080" y="3383280"/>
            <a:ext cx="1828800" cy="731520"/>
          </a:xfrm>
          <a:prstGeom prst="rect">
            <a:avLst>
              <a:gd name="adj" fmla="val 10000"/>
            </a:avLst>
          </a:prstGeom>
          <a:solidFill>
            <a:srgbClr val="1A1F2E"/>
          </a:solidFill>
          <a:ln/>
          <a:effectLst>
            <a:outerShdw sx="100000" sy="100000" kx="0" ky="0" algn="bl" rotWithShape="0" blurRad="101600" dist="38100" dir="8100000">
              <a:srgbClr val="000000">
                <a:alpha val="25000"/>
              </a:srgbClr>
            </a:outerShdw>
          </a:effectLst>
        </p:spPr>
      </p:sp>
      <p:sp>
        <p:nvSpPr>
          <p:cNvPr id="19" name="Text 17"/>
          <p:cNvSpPr/>
          <p:nvPr/>
        </p:nvSpPr>
        <p:spPr>
          <a:xfrm>
            <a:off x="640080" y="3383280"/>
            <a:ext cx="18288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C8CDD6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金融科技 VC</a:t>
            </a:r>
            <a:endParaRPr lang="en-US" sz="1200" dirty="0"/>
          </a:p>
        </p:txBody>
      </p:sp>
      <p:sp>
        <p:nvSpPr>
          <p:cNvPr id="20" name="Shape 18"/>
          <p:cNvSpPr/>
          <p:nvPr/>
        </p:nvSpPr>
        <p:spPr>
          <a:xfrm>
            <a:off x="2697480" y="3383280"/>
            <a:ext cx="1828800" cy="731520"/>
          </a:xfrm>
          <a:prstGeom prst="rect">
            <a:avLst>
              <a:gd name="adj" fmla="val 10000"/>
            </a:avLst>
          </a:prstGeom>
          <a:solidFill>
            <a:srgbClr val="1A1F2E"/>
          </a:solidFill>
          <a:ln/>
          <a:effectLst>
            <a:outerShdw sx="100000" sy="100000" kx="0" ky="0" algn="bl" rotWithShape="0" blurRad="101600" dist="38100" dir="8100000">
              <a:srgbClr val="000000">
                <a:alpha val="25000"/>
              </a:srgbClr>
            </a:outerShdw>
          </a:effectLst>
        </p:spPr>
      </p:sp>
      <p:sp>
        <p:nvSpPr>
          <p:cNvPr id="21" name="Text 19"/>
          <p:cNvSpPr/>
          <p:nvPr/>
        </p:nvSpPr>
        <p:spPr>
          <a:xfrm>
            <a:off x="2697480" y="3383280"/>
            <a:ext cx="18288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C8CDD6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加密基金</a:t>
            </a:r>
            <a:endParaRPr lang="en-US" sz="1200" dirty="0"/>
          </a:p>
        </p:txBody>
      </p:sp>
      <p:sp>
        <p:nvSpPr>
          <p:cNvPr id="22" name="Shape 20"/>
          <p:cNvSpPr/>
          <p:nvPr/>
        </p:nvSpPr>
        <p:spPr>
          <a:xfrm>
            <a:off x="4754880" y="3383280"/>
            <a:ext cx="1828800" cy="731520"/>
          </a:xfrm>
          <a:prstGeom prst="rect">
            <a:avLst>
              <a:gd name="adj" fmla="val 10000"/>
            </a:avLst>
          </a:prstGeom>
          <a:solidFill>
            <a:srgbClr val="1A1F2E"/>
          </a:solidFill>
          <a:ln/>
          <a:effectLst>
            <a:outerShdw sx="100000" sy="100000" kx="0" ky="0" algn="bl" rotWithShape="0" blurRad="101600" dist="38100" dir="8100000">
              <a:srgbClr val="000000">
                <a:alpha val="25000"/>
              </a:srgbClr>
            </a:outerShdw>
          </a:effectLst>
        </p:spPr>
      </p:sp>
      <p:sp>
        <p:nvSpPr>
          <p:cNvPr id="23" name="Text 21"/>
          <p:cNvSpPr/>
          <p:nvPr/>
        </p:nvSpPr>
        <p:spPr>
          <a:xfrm>
            <a:off x="4754880" y="3383280"/>
            <a:ext cx="18288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C8CDD6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战略天使投资人</a:t>
            </a:r>
            <a:endParaRPr lang="en-US" sz="1200" dirty="0"/>
          </a:p>
          <a:p>
            <a:pPr algn="ctr" indent="0" marL="0">
              <a:buNone/>
            </a:pPr>
            <a:r>
              <a:rPr lang="en-US" sz="1200" dirty="0">
                <a:solidFill>
                  <a:srgbClr val="C8CDD6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前 Stripe/Revolut/Circle</a:t>
            </a:r>
            <a:endParaRPr lang="en-US" sz="1200" dirty="0"/>
          </a:p>
        </p:txBody>
      </p:sp>
      <p:sp>
        <p:nvSpPr>
          <p:cNvPr id="24" name="Shape 22"/>
          <p:cNvSpPr/>
          <p:nvPr/>
        </p:nvSpPr>
        <p:spPr>
          <a:xfrm>
            <a:off x="6812280" y="3383280"/>
            <a:ext cx="1828800" cy="731520"/>
          </a:xfrm>
          <a:prstGeom prst="rect">
            <a:avLst>
              <a:gd name="adj" fmla="val 10000"/>
            </a:avLst>
          </a:prstGeom>
          <a:solidFill>
            <a:srgbClr val="1A1F2E"/>
          </a:solidFill>
          <a:ln/>
          <a:effectLst>
            <a:outerShdw sx="100000" sy="100000" kx="0" ky="0" algn="bl" rotWithShape="0" blurRad="101600" dist="38100" dir="8100000">
              <a:srgbClr val="000000">
                <a:alpha val="25000"/>
              </a:srgbClr>
            </a:outerShdw>
          </a:effectLst>
        </p:spPr>
      </p:sp>
      <p:sp>
        <p:nvSpPr>
          <p:cNvPr id="25" name="Text 23"/>
          <p:cNvSpPr/>
          <p:nvPr/>
        </p:nvSpPr>
        <p:spPr>
          <a:xfrm>
            <a:off x="6812280" y="3383280"/>
            <a:ext cx="18288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C8CDD6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机构收益</a:t>
            </a:r>
            <a:endParaRPr lang="en-US" sz="1200" dirty="0"/>
          </a:p>
          <a:p>
            <a:pPr algn="ctr" indent="0" marL="0">
              <a:buNone/>
            </a:pPr>
            <a:r>
              <a:rPr lang="en-US" sz="1200" dirty="0">
                <a:solidFill>
                  <a:srgbClr val="C8CDD6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基金</a:t>
            </a:r>
            <a:endParaRPr lang="en-US" sz="1200" dirty="0"/>
          </a:p>
        </p:txBody>
      </p:sp>
      <p:sp>
        <p:nvSpPr>
          <p:cNvPr id="26" name="Text 24"/>
          <p:cNvSpPr/>
          <p:nvPr/>
        </p:nvSpPr>
        <p:spPr>
          <a:xfrm>
            <a:off x="914400" y="4343400"/>
            <a:ext cx="73152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i="1" dirty="0">
                <a:solidFill>
                  <a:srgbClr val="00D4A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「$20 万亿美元现金市场正在向链上迁移。YieldNest 就是这座桥梁。」</a:t>
            </a:r>
            <a:endParaRPr lang="en-US" sz="1600" dirty="0"/>
          </a:p>
        </p:txBody>
      </p:sp>
      <p:sp>
        <p:nvSpPr>
          <p:cNvPr id="27" name="Text 25"/>
          <p:cNvSpPr/>
          <p:nvPr/>
        </p:nvSpPr>
        <p:spPr>
          <a:xfrm>
            <a:off x="640080" y="4846320"/>
            <a:ext cx="2743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7A829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team@yieldnest.io</a:t>
            </a:r>
            <a:endParaRPr lang="en-US" sz="11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14</Slides>
  <Notes>14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14</vt:i4>
      </vt:variant>
    </vt:vector>
  </HeadingPairs>
  <TitlesOfParts>
    <vt:vector size="17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  <vt:lpstr>Slide 14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YieldNest 融资演示文稿</dc:title>
  <dc:subject>PptxGenJS Presentation</dc:subject>
  <dc:creator>YieldNest</dc:creator>
  <cp:lastModifiedBy>YieldNest</cp:lastModifiedBy>
  <cp:revision>1</cp:revision>
  <dcterms:created xsi:type="dcterms:W3CDTF">2026-05-11T11:02:44Z</dcterms:created>
  <dcterms:modified xsi:type="dcterms:W3CDTF">2026-05-11T11:02:44Z</dcterms:modified>
</cp:coreProperties>
</file>